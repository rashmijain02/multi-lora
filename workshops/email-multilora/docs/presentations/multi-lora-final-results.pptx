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Motivation: compare task/persona specialization with a generic prompted model. Stage A established multi-label classification and routing; Stage B trained ten synthetic persona reply adapters. These are independent tasks, not interchangeable adapters. LoRA is a weight update, not a standalone model. Local training does not prove managed Foundry/NIM support. See companion Slide 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Raw 2,105 to retained 2,103 after quarantining a conflicting exact-text pair. Dataset is multi-label despite its name. Train 1,473, validation 312, test 318; same partition per persona. Assistant/background assistants authored replies, not keyword templates; deterministic scripts assembled and checked coverage. 11 complete reference sets exist (23,133 rows), including generic; only ten named persona adapters trained. No independent human semantic audit is implied. Test references exist but test model evaluation remains sealed. See companion Slide 2.</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Recorded persona training total 96.6882 minutes, derived by summing adapter manifest elapsed_seconds. Fresh base/adapter/optimizer per client prevents training personas on top of previous adapters. Revision aa8e72537993ba99e69dfaafa59ed015b17504d1. Completion-only training; full validation checkpoint loss. Greedy inference up to 192 new tokens. Adapter weights about 7.05 MiB each, directory about 43.5 MiB including checkpoints. Independent loading verified; no concurrent serving benchmark. Full exact configs in companion Slide 3.</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Classification: paired same 312 validation emails per strategy; generalist wins micro-F1 for both models. Qwen all-specialists wins Qwen macro-F1. Routing reduces calls 3.000 to 1.032, about 65.6%, not necessarily latency/cost by that amount. Nemotron base invalid output 40.38%; scores are prompt/parser-specific. Persona means from unrounded metrics: F1 0.19157706 to 0.33520624; ROUGE-L 0.14302252 to 0.27667421. Base retains persona prompt with LoRA disabled. Eight paired emails per client are the same eight incoming email IDs across clients. 80 persona-email comparisons are not 80 independent incoming emails. All generation metrics preliminary; full 312-row validation loss is not full generation validation. See complete tables and limitations in companion Slide 4.</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Proposed experiments only. Expand all ten personas to 312 validation emails. Pair by incoming email; aggregate bootstrap should cluster persona observations by source email. Human review randomized A/B/tie with at least two reviewers; report agreement and calibrated rubric. Compare prompted base, correct adapter, wrong adapter and a shared generic reply adapter to separate personalization from generic response fine-tuning. Stress grounding, commitments, privacy and long threads. Establish acceptable margins before final test, not after seeing it. Benchmark serving at controlled output lengths and concurrency. Final test 318 emails only after configuration freezes. Keep drafts behind human approval. See companion Slide 5 and evaluation plan.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63C"/>
        </a:solidFill>
        <a:effectLst/>
      </p:bgPr>
    </p:bg>
    <p:spTree>
      <p:nvGrpSpPr>
        <p:cNvPr id="1" name=""/>
        <p:cNvGrpSpPr/>
        <p:nvPr/>
      </p:nvGrpSpPr>
      <p:grpSpPr/>
      <p:sp>
        <p:nvSpPr>
          <p:cNvPr id="2" name="TextBox 1"/>
          <p:cNvSpPr txBox="1"/>
          <p:nvPr/>
        </p:nvSpPr>
        <p:spPr>
          <a:xfrm>
            <a:off x="502920" y="228600"/>
            <a:ext cx="10789920" cy="246888"/>
          </a:xfrm>
          <a:prstGeom prst="rect">
            <a:avLst/>
          </a:prstGeom>
          <a:noFill/>
        </p:spPr>
        <p:txBody>
          <a:bodyPr wrap="square" lIns="9144" rIns="9144" tIns="9144" bIns="9144">
            <a:spAutoFit/>
          </a:bodyPr>
          <a:lstStyle/>
          <a:p>
            <a:pPr>
              <a:spcAft>
                <a:spcPts val="500"/>
              </a:spcAft>
              <a:defRPr sz="1100" b="1">
                <a:solidFill>
                  <a:srgbClr val="69D5C2"/>
                </a:solidFill>
                <a:latin typeface="Aptos"/>
              </a:defRPr>
            </a:pPr>
            <a:r>
              <a:t>MULTI-LORA / LOCAL EXPERIMENT READOUT</a:t>
            </a:r>
          </a:p>
        </p:txBody>
      </p:sp>
      <p:sp>
        <p:nvSpPr>
          <p:cNvPr id="3" name="TextBox 2"/>
          <p:cNvSpPr txBox="1"/>
          <p:nvPr/>
        </p:nvSpPr>
        <p:spPr>
          <a:xfrm>
            <a:off x="502920" y="694944"/>
            <a:ext cx="11064240" cy="557784"/>
          </a:xfrm>
          <a:prstGeom prst="rect">
            <a:avLst/>
          </a:prstGeom>
          <a:noFill/>
        </p:spPr>
        <p:txBody>
          <a:bodyPr wrap="square" lIns="9144" rIns="9144" tIns="9144" bIns="9144">
            <a:spAutoFit/>
          </a:bodyPr>
          <a:lstStyle/>
          <a:p>
            <a:pPr>
              <a:spcAft>
                <a:spcPts val="500"/>
              </a:spcAft>
              <a:defRPr sz="3000" b="1">
                <a:solidFill>
                  <a:srgbClr val="FFFFFF"/>
                </a:solidFill>
                <a:latin typeface="Aptos"/>
              </a:defRPr>
            </a:pPr>
            <a:r>
              <a:t>One base, many email behaviors</a:t>
            </a:r>
          </a:p>
        </p:txBody>
      </p:sp>
      <p:sp>
        <p:nvSpPr>
          <p:cNvPr id="4" name="TextBox 3"/>
          <p:cNvSpPr txBox="1"/>
          <p:nvPr/>
        </p:nvSpPr>
        <p:spPr>
          <a:xfrm>
            <a:off x="502920" y="1307592"/>
            <a:ext cx="11064240" cy="493776"/>
          </a:xfrm>
          <a:prstGeom prst="rect">
            <a:avLst/>
          </a:prstGeom>
          <a:noFill/>
        </p:spPr>
        <p:txBody>
          <a:bodyPr wrap="square" lIns="9144" rIns="9144" tIns="9144" bIns="9144">
            <a:spAutoFit/>
          </a:bodyPr>
          <a:lstStyle/>
          <a:p>
            <a:pPr>
              <a:spcAft>
                <a:spcPts val="500"/>
              </a:spcAft>
              <a:defRPr sz="1700" b="0">
                <a:solidFill>
                  <a:srgbClr val="C3D4DF"/>
                </a:solidFill>
                <a:latin typeface="Aptos"/>
              </a:defRPr>
            </a:pPr>
            <a:r>
              <a:t>From multi-label classification to ten persona-conditioned reply adapters</a:t>
            </a:r>
          </a:p>
        </p:txBody>
      </p:sp>
      <p:cxnSp>
        <p:nvCxnSpPr>
          <p:cNvPr id="5" name="Connector 4"/>
          <p:cNvCxnSpPr/>
          <p:nvPr/>
        </p:nvCxnSpPr>
        <p:spPr>
          <a:xfrm>
            <a:off x="502920" y="6391656"/>
            <a:ext cx="11155680" cy="0"/>
          </a:xfrm>
          <a:prstGeom prst="line">
            <a:avLst/>
          </a:prstGeom>
          <a:ln w="15240">
            <a:solidFill>
              <a:srgbClr val="3A5264"/>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492240"/>
            <a:ext cx="10698480" cy="182880"/>
          </a:xfrm>
          <a:prstGeom prst="rect">
            <a:avLst/>
          </a:prstGeom>
          <a:noFill/>
        </p:spPr>
        <p:txBody>
          <a:bodyPr wrap="square" lIns="9144" rIns="9144" tIns="9144" bIns="9144">
            <a:spAutoFit/>
          </a:bodyPr>
          <a:lstStyle/>
          <a:p>
            <a:pPr>
              <a:spcAft>
                <a:spcPts val="500"/>
              </a:spcAft>
              <a:defRPr sz="900" b="0">
                <a:solidFill>
                  <a:srgbClr val="C3D4DF"/>
                </a:solidFill>
                <a:latin typeface="Aptos"/>
              </a:defRPr>
            </a:pPr>
            <a:r>
              <a:t>20 OCT 2026  |  Final readout of completed work; not a final-test or production release</a:t>
            </a:r>
          </a:p>
        </p:txBody>
      </p:sp>
      <p:sp>
        <p:nvSpPr>
          <p:cNvPr id="7" name="TextBox 6"/>
          <p:cNvSpPr txBox="1"/>
          <p:nvPr/>
        </p:nvSpPr>
        <p:spPr>
          <a:xfrm>
            <a:off x="11228832" y="6473952"/>
            <a:ext cx="457200" cy="228600"/>
          </a:xfrm>
          <a:prstGeom prst="rect">
            <a:avLst/>
          </a:prstGeom>
          <a:noFill/>
        </p:spPr>
        <p:txBody>
          <a:bodyPr wrap="square" lIns="9144" rIns="9144" tIns="9144" bIns="9144">
            <a:spAutoFit/>
          </a:bodyPr>
          <a:lstStyle/>
          <a:p>
            <a:pPr>
              <a:spcAft>
                <a:spcPts val="500"/>
              </a:spcAft>
              <a:defRPr sz="1100" b="1">
                <a:solidFill>
                  <a:srgbClr val="69D5C2"/>
                </a:solidFill>
                <a:latin typeface="Aptos"/>
              </a:defRPr>
            </a:pPr>
            <a:r>
              <a:t>01</a:t>
            </a:r>
          </a:p>
        </p:txBody>
      </p:sp>
      <p:sp>
        <p:nvSpPr>
          <p:cNvPr id="8" name="TextBox 7"/>
          <p:cNvSpPr txBox="1"/>
          <p:nvPr/>
        </p:nvSpPr>
        <p:spPr>
          <a:xfrm>
            <a:off x="548640" y="2011680"/>
            <a:ext cx="5120640" cy="1033271"/>
          </a:xfrm>
          <a:prstGeom prst="rect">
            <a:avLst/>
          </a:prstGeom>
          <a:noFill/>
        </p:spPr>
        <p:txBody>
          <a:bodyPr wrap="square" lIns="9144" rIns="9144" tIns="9144" bIns="9144">
            <a:spAutoFit/>
          </a:bodyPr>
          <a:lstStyle/>
          <a:p>
            <a:pPr>
              <a:spcAft>
                <a:spcPts val="500"/>
              </a:spcAft>
              <a:defRPr sz="2700" b="1">
                <a:solidFill>
                  <a:srgbClr val="FFFFFF"/>
                </a:solidFill>
                <a:latin typeface="Aptos"/>
              </a:defRPr>
            </a:pPr>
            <a:r>
              <a:t>Can small adapters improve</a:t>
            </a:r>
          </a:p>
          <a:p>
            <a:pPr>
              <a:spcAft>
                <a:spcPts val="500"/>
              </a:spcAft>
              <a:defRPr sz="2700" b="1">
                <a:solidFill>
                  <a:srgbClr val="FFFFFF"/>
                </a:solidFill>
                <a:latin typeface="Aptos"/>
              </a:defRPr>
            </a:pPr>
            <a:r>
              <a:t>how we classify and reply?</a:t>
            </a:r>
          </a:p>
        </p:txBody>
      </p:sp>
      <p:sp>
        <p:nvSpPr>
          <p:cNvPr id="9" name="Rectangle 8"/>
          <p:cNvSpPr/>
          <p:nvPr/>
        </p:nvSpPr>
        <p:spPr>
          <a:xfrm>
            <a:off x="557784" y="3291839"/>
            <a:ext cx="50292" cy="475488"/>
          </a:xfrm>
          <a:prstGeom prst="rect">
            <a:avLst/>
          </a:prstGeom>
          <a:solidFill>
            <a:srgbClr val="69D5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3227832"/>
            <a:ext cx="4754880" cy="265176"/>
          </a:xfrm>
          <a:prstGeom prst="rect">
            <a:avLst/>
          </a:prstGeom>
          <a:noFill/>
        </p:spPr>
        <p:txBody>
          <a:bodyPr wrap="square" lIns="9144" rIns="9144" tIns="9144" bIns="9144">
            <a:spAutoFit/>
          </a:bodyPr>
          <a:lstStyle/>
          <a:p>
            <a:pPr>
              <a:spcAft>
                <a:spcPts val="500"/>
              </a:spcAft>
              <a:defRPr sz="1700" b="1">
                <a:solidFill>
                  <a:srgbClr val="69D5C2"/>
                </a:solidFill>
                <a:latin typeface="Aptos"/>
              </a:defRPr>
            </a:pPr>
            <a:r>
              <a:t>Task fit</a:t>
            </a:r>
          </a:p>
        </p:txBody>
      </p:sp>
      <p:sp>
        <p:nvSpPr>
          <p:cNvPr id="11" name="TextBox 10"/>
          <p:cNvSpPr txBox="1"/>
          <p:nvPr/>
        </p:nvSpPr>
        <p:spPr>
          <a:xfrm>
            <a:off x="749808" y="3538727"/>
            <a:ext cx="4754880" cy="393192"/>
          </a:xfrm>
          <a:prstGeom prst="rect">
            <a:avLst/>
          </a:prstGeom>
          <a:noFill/>
        </p:spPr>
        <p:txBody>
          <a:bodyPr wrap="square" lIns="9144" rIns="9144" tIns="9144" bIns="9144">
            <a:spAutoFit/>
          </a:bodyPr>
          <a:lstStyle/>
          <a:p>
            <a:pPr>
              <a:spcAft>
                <a:spcPts val="500"/>
              </a:spcAft>
              <a:defRPr sz="1500" b="0">
                <a:solidFill>
                  <a:srgbClr val="D7E4EC"/>
                </a:solidFill>
                <a:latin typeface="Aptos"/>
              </a:defRPr>
            </a:pPr>
            <a:r>
              <a:t>Labels and replies require different contracts.</a:t>
            </a:r>
          </a:p>
        </p:txBody>
      </p:sp>
      <p:sp>
        <p:nvSpPr>
          <p:cNvPr id="12" name="Rectangle 11"/>
          <p:cNvSpPr/>
          <p:nvPr/>
        </p:nvSpPr>
        <p:spPr>
          <a:xfrm>
            <a:off x="557784" y="4069080"/>
            <a:ext cx="50292" cy="475488"/>
          </a:xfrm>
          <a:prstGeom prst="rect">
            <a:avLst/>
          </a:prstGeom>
          <a:solidFill>
            <a:srgbClr val="69D5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4005072"/>
            <a:ext cx="4754880" cy="265176"/>
          </a:xfrm>
          <a:prstGeom prst="rect">
            <a:avLst/>
          </a:prstGeom>
          <a:noFill/>
        </p:spPr>
        <p:txBody>
          <a:bodyPr wrap="square" lIns="9144" rIns="9144" tIns="9144" bIns="9144">
            <a:spAutoFit/>
          </a:bodyPr>
          <a:lstStyle/>
          <a:p>
            <a:pPr>
              <a:spcAft>
                <a:spcPts val="500"/>
              </a:spcAft>
              <a:defRPr sz="1700" b="1">
                <a:solidFill>
                  <a:srgbClr val="69D5C2"/>
                </a:solidFill>
                <a:latin typeface="Aptos"/>
              </a:defRPr>
            </a:pPr>
            <a:r>
              <a:t>Persona fit</a:t>
            </a:r>
          </a:p>
        </p:txBody>
      </p:sp>
      <p:sp>
        <p:nvSpPr>
          <p:cNvPr id="14" name="TextBox 13"/>
          <p:cNvSpPr txBox="1"/>
          <p:nvPr/>
        </p:nvSpPr>
        <p:spPr>
          <a:xfrm>
            <a:off x="749808" y="4315968"/>
            <a:ext cx="4754880" cy="393192"/>
          </a:xfrm>
          <a:prstGeom prst="rect">
            <a:avLst/>
          </a:prstGeom>
          <a:noFill/>
        </p:spPr>
        <p:txBody>
          <a:bodyPr wrap="square" lIns="9144" rIns="9144" tIns="9144" bIns="9144">
            <a:spAutoFit/>
          </a:bodyPr>
          <a:lstStyle/>
          <a:p>
            <a:pPr>
              <a:spcAft>
                <a:spcPts val="500"/>
              </a:spcAft>
              <a:defRPr sz="1500" b="0">
                <a:solidFill>
                  <a:srgbClr val="D7E4EC"/>
                </a:solidFill>
                <a:latin typeface="Aptos"/>
              </a:defRPr>
            </a:pPr>
            <a:r>
              <a:t>Match each client's voice and role boundaries.</a:t>
            </a:r>
          </a:p>
        </p:txBody>
      </p:sp>
      <p:sp>
        <p:nvSpPr>
          <p:cNvPr id="15" name="Rectangle 14"/>
          <p:cNvSpPr/>
          <p:nvPr/>
        </p:nvSpPr>
        <p:spPr>
          <a:xfrm>
            <a:off x="557784" y="4846320"/>
            <a:ext cx="50292" cy="475488"/>
          </a:xfrm>
          <a:prstGeom prst="rect">
            <a:avLst/>
          </a:prstGeom>
          <a:solidFill>
            <a:srgbClr val="69D5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9808" y="4782312"/>
            <a:ext cx="4754880" cy="265176"/>
          </a:xfrm>
          <a:prstGeom prst="rect">
            <a:avLst/>
          </a:prstGeom>
          <a:noFill/>
        </p:spPr>
        <p:txBody>
          <a:bodyPr wrap="square" lIns="9144" rIns="9144" tIns="9144" bIns="9144">
            <a:spAutoFit/>
          </a:bodyPr>
          <a:lstStyle/>
          <a:p>
            <a:pPr>
              <a:spcAft>
                <a:spcPts val="500"/>
              </a:spcAft>
              <a:defRPr sz="1700" b="1">
                <a:solidFill>
                  <a:srgbClr val="69D5C2"/>
                </a:solidFill>
                <a:latin typeface="Aptos"/>
              </a:defRPr>
            </a:pPr>
            <a:r>
              <a:t>Practical fit</a:t>
            </a:r>
          </a:p>
        </p:txBody>
      </p:sp>
      <p:sp>
        <p:nvSpPr>
          <p:cNvPr id="17" name="TextBox 16"/>
          <p:cNvSpPr txBox="1"/>
          <p:nvPr/>
        </p:nvSpPr>
        <p:spPr>
          <a:xfrm>
            <a:off x="749808" y="5093208"/>
            <a:ext cx="4754880" cy="393192"/>
          </a:xfrm>
          <a:prstGeom prst="rect">
            <a:avLst/>
          </a:prstGeom>
          <a:noFill/>
        </p:spPr>
        <p:txBody>
          <a:bodyPr wrap="square" lIns="9144" rIns="9144" tIns="9144" bIns="9144">
            <a:spAutoFit/>
          </a:bodyPr>
          <a:lstStyle/>
          <a:p>
            <a:pPr>
              <a:spcAft>
                <a:spcPts val="500"/>
              </a:spcAft>
              <a:defRPr sz="1500" b="0">
                <a:solidFill>
                  <a:srgbClr val="D7E4EC"/>
                </a:solidFill>
                <a:latin typeface="Aptos"/>
              </a:defRPr>
            </a:pPr>
            <a:r>
              <a:t>Train locally with small, auditable adapters.</a:t>
            </a:r>
          </a:p>
        </p:txBody>
      </p:sp>
      <p:sp>
        <p:nvSpPr>
          <p:cNvPr id="18" name="Rounded Rectangle 17"/>
          <p:cNvSpPr/>
          <p:nvPr/>
        </p:nvSpPr>
        <p:spPr>
          <a:xfrm>
            <a:off x="6080760" y="1965960"/>
            <a:ext cx="5577840" cy="3538728"/>
          </a:xfrm>
          <a:prstGeom prst="roundRect">
            <a:avLst>
              <a:gd name="adj" fmla="val 12000"/>
            </a:avLst>
          </a:prstGeom>
          <a:solidFill>
            <a:srgbClr val="1B36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5080" y="2194560"/>
            <a:ext cx="5029200" cy="246888"/>
          </a:xfrm>
          <a:prstGeom prst="rect">
            <a:avLst/>
          </a:prstGeom>
          <a:noFill/>
        </p:spPr>
        <p:txBody>
          <a:bodyPr wrap="square" lIns="9144" rIns="9144" tIns="9144" bIns="9144">
            <a:spAutoFit/>
          </a:bodyPr>
          <a:lstStyle/>
          <a:p>
            <a:pPr>
              <a:spcAft>
                <a:spcPts val="500"/>
              </a:spcAft>
              <a:defRPr sz="1200" b="1">
                <a:solidFill>
                  <a:srgbClr val="69D5C2"/>
                </a:solidFill>
                <a:latin typeface="Aptos"/>
              </a:defRPr>
            </a:pPr>
            <a:r>
              <a:t>REPLY STAGE: SHARED-BASE DESIGN</a:t>
            </a:r>
          </a:p>
        </p:txBody>
      </p:sp>
      <p:sp>
        <p:nvSpPr>
          <p:cNvPr id="20" name="Rounded Rectangle 19"/>
          <p:cNvSpPr/>
          <p:nvPr/>
        </p:nvSpPr>
        <p:spPr>
          <a:xfrm>
            <a:off x="7525512" y="2734056"/>
            <a:ext cx="2606040" cy="685800"/>
          </a:xfrm>
          <a:prstGeom prst="roundRect">
            <a:avLst>
              <a:gd name="adj" fmla="val 12000"/>
            </a:avLst>
          </a:prstGeom>
          <a:solidFill>
            <a:srgbClr val="007F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99248" y="2843784"/>
            <a:ext cx="2276856" cy="429768"/>
          </a:xfrm>
          <a:prstGeom prst="rect">
            <a:avLst/>
          </a:prstGeom>
          <a:noFill/>
        </p:spPr>
        <p:txBody>
          <a:bodyPr wrap="square" lIns="9144" rIns="9144" tIns="9144" bIns="9144">
            <a:spAutoFit/>
          </a:bodyPr>
          <a:lstStyle/>
          <a:p>
            <a:pPr>
              <a:spcAft>
                <a:spcPts val="500"/>
              </a:spcAft>
              <a:defRPr sz="2000" b="1">
                <a:solidFill>
                  <a:srgbClr val="FFFFFF"/>
                </a:solidFill>
                <a:latin typeface="Aptos"/>
              </a:defRPr>
            </a:pPr>
            <a:r>
              <a:t>Frozen Qwen 3B</a:t>
            </a:r>
          </a:p>
        </p:txBody>
      </p:sp>
      <p:cxnSp>
        <p:nvCxnSpPr>
          <p:cNvPr id="22" name="Connector 21"/>
          <p:cNvCxnSpPr/>
          <p:nvPr/>
        </p:nvCxnSpPr>
        <p:spPr>
          <a:xfrm>
            <a:off x="8823960" y="3429000"/>
            <a:ext cx="0" cy="256032"/>
          </a:xfrm>
          <a:prstGeom prst="line">
            <a:avLst/>
          </a:prstGeom>
          <a:ln w="22860">
            <a:solidFill>
              <a:srgbClr val="69D5C2"/>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6757416" y="3685032"/>
            <a:ext cx="4151376" cy="0"/>
          </a:xfrm>
          <a:prstGeom prst="line">
            <a:avLst/>
          </a:prstGeom>
          <a:ln w="22860">
            <a:solidFill>
              <a:srgbClr val="69D5C2"/>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382512" y="3858768"/>
            <a:ext cx="932688" cy="438912"/>
          </a:xfrm>
          <a:prstGeom prst="roundRect">
            <a:avLst>
              <a:gd name="adj" fmla="val 12000"/>
            </a:avLst>
          </a:prstGeom>
          <a:solidFill>
            <a:srgbClr val="2E4B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14516" y="3959352"/>
            <a:ext cx="868680" cy="256032"/>
          </a:xfrm>
          <a:prstGeom prst="rect">
            <a:avLst/>
          </a:prstGeom>
          <a:noFill/>
        </p:spPr>
        <p:txBody>
          <a:bodyPr wrap="square" lIns="9144" rIns="9144" tIns="9144" bIns="9144">
            <a:spAutoFit/>
          </a:bodyPr>
          <a:lstStyle/>
          <a:p>
            <a:pPr>
              <a:spcAft>
                <a:spcPts val="500"/>
              </a:spcAft>
              <a:defRPr sz="1100" b="1">
                <a:solidFill>
                  <a:srgbClr val="FFFFFF"/>
                </a:solidFill>
                <a:latin typeface="Aptos"/>
              </a:defRPr>
            </a:pPr>
            <a:r>
              <a:t>CEO</a:t>
            </a:r>
          </a:p>
        </p:txBody>
      </p:sp>
      <p:sp>
        <p:nvSpPr>
          <p:cNvPr id="26" name="Rounded Rectangle 25"/>
          <p:cNvSpPr/>
          <p:nvPr/>
        </p:nvSpPr>
        <p:spPr>
          <a:xfrm>
            <a:off x="7388352" y="3858768"/>
            <a:ext cx="932688" cy="438912"/>
          </a:xfrm>
          <a:prstGeom prst="roundRect">
            <a:avLst>
              <a:gd name="adj" fmla="val 12000"/>
            </a:avLst>
          </a:prstGeom>
          <a:solidFill>
            <a:srgbClr val="2E4B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20356" y="3959352"/>
            <a:ext cx="868680" cy="256032"/>
          </a:xfrm>
          <a:prstGeom prst="rect">
            <a:avLst/>
          </a:prstGeom>
          <a:noFill/>
        </p:spPr>
        <p:txBody>
          <a:bodyPr wrap="square" lIns="9144" rIns="9144" tIns="9144" bIns="9144">
            <a:spAutoFit/>
          </a:bodyPr>
          <a:lstStyle/>
          <a:p>
            <a:pPr>
              <a:spcAft>
                <a:spcPts val="500"/>
              </a:spcAft>
              <a:defRPr sz="1100" b="1">
                <a:solidFill>
                  <a:srgbClr val="FFFFFF"/>
                </a:solidFill>
                <a:latin typeface="Aptos"/>
              </a:defRPr>
            </a:pPr>
            <a:r>
              <a:t>CFO</a:t>
            </a:r>
          </a:p>
        </p:txBody>
      </p:sp>
      <p:sp>
        <p:nvSpPr>
          <p:cNvPr id="28" name="Rounded Rectangle 27"/>
          <p:cNvSpPr/>
          <p:nvPr/>
        </p:nvSpPr>
        <p:spPr>
          <a:xfrm>
            <a:off x="8394192" y="3858768"/>
            <a:ext cx="932688" cy="438912"/>
          </a:xfrm>
          <a:prstGeom prst="roundRect">
            <a:avLst>
              <a:gd name="adj" fmla="val 12000"/>
            </a:avLst>
          </a:prstGeom>
          <a:solidFill>
            <a:srgbClr val="2E4B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26196" y="3959352"/>
            <a:ext cx="868680" cy="256032"/>
          </a:xfrm>
          <a:prstGeom prst="rect">
            <a:avLst/>
          </a:prstGeom>
          <a:noFill/>
        </p:spPr>
        <p:txBody>
          <a:bodyPr wrap="square" lIns="9144" rIns="9144" tIns="9144" bIns="9144">
            <a:spAutoFit/>
          </a:bodyPr>
          <a:lstStyle/>
          <a:p>
            <a:pPr>
              <a:spcAft>
                <a:spcPts val="500"/>
              </a:spcAft>
              <a:defRPr sz="1100" b="1">
                <a:solidFill>
                  <a:srgbClr val="FFFFFF"/>
                </a:solidFill>
                <a:latin typeface="Aptos"/>
              </a:defRPr>
            </a:pPr>
            <a:r>
              <a:t>Support</a:t>
            </a:r>
          </a:p>
        </p:txBody>
      </p:sp>
      <p:sp>
        <p:nvSpPr>
          <p:cNvPr id="30" name="Rounded Rectangle 29"/>
          <p:cNvSpPr/>
          <p:nvPr/>
        </p:nvSpPr>
        <p:spPr>
          <a:xfrm>
            <a:off x="9400032" y="3858768"/>
            <a:ext cx="932688" cy="438912"/>
          </a:xfrm>
          <a:prstGeom prst="roundRect">
            <a:avLst>
              <a:gd name="adj" fmla="val 12000"/>
            </a:avLst>
          </a:prstGeom>
          <a:solidFill>
            <a:srgbClr val="2E4B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432036" y="3959352"/>
            <a:ext cx="868680" cy="256032"/>
          </a:xfrm>
          <a:prstGeom prst="rect">
            <a:avLst/>
          </a:prstGeom>
          <a:noFill/>
        </p:spPr>
        <p:txBody>
          <a:bodyPr wrap="square" lIns="9144" rIns="9144" tIns="9144" bIns="9144">
            <a:spAutoFit/>
          </a:bodyPr>
          <a:lstStyle/>
          <a:p>
            <a:pPr>
              <a:spcAft>
                <a:spcPts val="500"/>
              </a:spcAft>
              <a:defRPr sz="1100" b="1">
                <a:solidFill>
                  <a:srgbClr val="FFFFFF"/>
                </a:solidFill>
                <a:latin typeface="Aptos"/>
              </a:defRPr>
            </a:pPr>
            <a:r>
              <a:t>Engineer</a:t>
            </a:r>
          </a:p>
        </p:txBody>
      </p:sp>
      <p:sp>
        <p:nvSpPr>
          <p:cNvPr id="32" name="Rounded Rectangle 31"/>
          <p:cNvSpPr/>
          <p:nvPr/>
        </p:nvSpPr>
        <p:spPr>
          <a:xfrm>
            <a:off x="10405872" y="3858768"/>
            <a:ext cx="932688" cy="438912"/>
          </a:xfrm>
          <a:prstGeom prst="roundRect">
            <a:avLst>
              <a:gd name="adj" fmla="val 12000"/>
            </a:avLst>
          </a:prstGeom>
          <a:solidFill>
            <a:srgbClr val="2E4B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437876" y="3959352"/>
            <a:ext cx="868680" cy="256032"/>
          </a:xfrm>
          <a:prstGeom prst="rect">
            <a:avLst/>
          </a:prstGeom>
          <a:noFill/>
        </p:spPr>
        <p:txBody>
          <a:bodyPr wrap="square" lIns="9144" rIns="9144" tIns="9144" bIns="9144">
            <a:spAutoFit/>
          </a:bodyPr>
          <a:lstStyle/>
          <a:p>
            <a:pPr>
              <a:spcAft>
                <a:spcPts val="500"/>
              </a:spcAft>
              <a:defRPr sz="1100" b="1">
                <a:solidFill>
                  <a:srgbClr val="FFFFFF"/>
                </a:solidFill>
                <a:latin typeface="Aptos"/>
              </a:defRPr>
            </a:pPr>
            <a:r>
              <a:t>Sales</a:t>
            </a:r>
          </a:p>
        </p:txBody>
      </p:sp>
      <p:sp>
        <p:nvSpPr>
          <p:cNvPr id="34" name="Rounded Rectangle 33"/>
          <p:cNvSpPr/>
          <p:nvPr/>
        </p:nvSpPr>
        <p:spPr>
          <a:xfrm>
            <a:off x="6382512" y="4443983"/>
            <a:ext cx="932688" cy="438912"/>
          </a:xfrm>
          <a:prstGeom prst="roundRect">
            <a:avLst>
              <a:gd name="adj" fmla="val 12000"/>
            </a:avLst>
          </a:prstGeom>
          <a:solidFill>
            <a:srgbClr val="2E4B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14516" y="4544568"/>
            <a:ext cx="868680" cy="256032"/>
          </a:xfrm>
          <a:prstGeom prst="rect">
            <a:avLst/>
          </a:prstGeom>
          <a:noFill/>
        </p:spPr>
        <p:txBody>
          <a:bodyPr wrap="square" lIns="9144" rIns="9144" tIns="9144" bIns="9144">
            <a:spAutoFit/>
          </a:bodyPr>
          <a:lstStyle/>
          <a:p>
            <a:pPr>
              <a:spcAft>
                <a:spcPts val="500"/>
              </a:spcAft>
              <a:defRPr sz="1100" b="1">
                <a:solidFill>
                  <a:srgbClr val="FFFFFF"/>
                </a:solidFill>
                <a:latin typeface="Aptos"/>
              </a:defRPr>
            </a:pPr>
            <a:r>
              <a:t>People</a:t>
            </a:r>
          </a:p>
        </p:txBody>
      </p:sp>
      <p:sp>
        <p:nvSpPr>
          <p:cNvPr id="36" name="Rounded Rectangle 35"/>
          <p:cNvSpPr/>
          <p:nvPr/>
        </p:nvSpPr>
        <p:spPr>
          <a:xfrm>
            <a:off x="7388352" y="4443983"/>
            <a:ext cx="932688" cy="438912"/>
          </a:xfrm>
          <a:prstGeom prst="roundRect">
            <a:avLst>
              <a:gd name="adj" fmla="val 12000"/>
            </a:avLst>
          </a:prstGeom>
          <a:solidFill>
            <a:srgbClr val="2E4B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420356" y="4544568"/>
            <a:ext cx="868680" cy="256032"/>
          </a:xfrm>
          <a:prstGeom prst="rect">
            <a:avLst/>
          </a:prstGeom>
          <a:noFill/>
        </p:spPr>
        <p:txBody>
          <a:bodyPr wrap="square" lIns="9144" rIns="9144" tIns="9144" bIns="9144">
            <a:spAutoFit/>
          </a:bodyPr>
          <a:lstStyle/>
          <a:p>
            <a:pPr>
              <a:spcAft>
                <a:spcPts val="500"/>
              </a:spcAft>
              <a:defRPr sz="1100" b="1">
                <a:solidFill>
                  <a:srgbClr val="FFFFFF"/>
                </a:solidFill>
                <a:latin typeface="Aptos"/>
              </a:defRPr>
            </a:pPr>
            <a:r>
              <a:t>Marketing</a:t>
            </a:r>
          </a:p>
        </p:txBody>
      </p:sp>
      <p:sp>
        <p:nvSpPr>
          <p:cNvPr id="38" name="Rounded Rectangle 37"/>
          <p:cNvSpPr/>
          <p:nvPr/>
        </p:nvSpPr>
        <p:spPr>
          <a:xfrm>
            <a:off x="8394192" y="4443983"/>
            <a:ext cx="932688" cy="438912"/>
          </a:xfrm>
          <a:prstGeom prst="roundRect">
            <a:avLst>
              <a:gd name="adj" fmla="val 12000"/>
            </a:avLst>
          </a:prstGeom>
          <a:solidFill>
            <a:srgbClr val="2E4B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426196" y="4544568"/>
            <a:ext cx="868680" cy="256032"/>
          </a:xfrm>
          <a:prstGeom prst="rect">
            <a:avLst/>
          </a:prstGeom>
          <a:noFill/>
        </p:spPr>
        <p:txBody>
          <a:bodyPr wrap="square" lIns="9144" rIns="9144" tIns="9144" bIns="9144">
            <a:spAutoFit/>
          </a:bodyPr>
          <a:lstStyle/>
          <a:p>
            <a:pPr>
              <a:spcAft>
                <a:spcPts val="500"/>
              </a:spcAft>
              <a:defRPr sz="1100" b="1">
                <a:solidFill>
                  <a:srgbClr val="FFFFFF"/>
                </a:solidFill>
                <a:latin typeface="Aptos"/>
              </a:defRPr>
            </a:pPr>
            <a:r>
              <a:t>Legal</a:t>
            </a:r>
          </a:p>
        </p:txBody>
      </p:sp>
      <p:sp>
        <p:nvSpPr>
          <p:cNvPr id="40" name="Rounded Rectangle 39"/>
          <p:cNvSpPr/>
          <p:nvPr/>
        </p:nvSpPr>
        <p:spPr>
          <a:xfrm>
            <a:off x="9400032" y="4443983"/>
            <a:ext cx="932688" cy="438912"/>
          </a:xfrm>
          <a:prstGeom prst="roundRect">
            <a:avLst>
              <a:gd name="adj" fmla="val 12000"/>
            </a:avLst>
          </a:prstGeom>
          <a:solidFill>
            <a:srgbClr val="2E4B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432036" y="4544568"/>
            <a:ext cx="868680" cy="256032"/>
          </a:xfrm>
          <a:prstGeom prst="rect">
            <a:avLst/>
          </a:prstGeom>
          <a:noFill/>
        </p:spPr>
        <p:txBody>
          <a:bodyPr wrap="square" lIns="9144" rIns="9144" tIns="9144" bIns="9144">
            <a:spAutoFit/>
          </a:bodyPr>
          <a:lstStyle/>
          <a:p>
            <a:pPr>
              <a:spcAft>
                <a:spcPts val="500"/>
              </a:spcAft>
              <a:defRPr sz="1100" b="1">
                <a:solidFill>
                  <a:srgbClr val="FFFFFF"/>
                </a:solidFill>
                <a:latin typeface="Aptos"/>
              </a:defRPr>
            </a:pPr>
            <a:r>
              <a:t>Ops</a:t>
            </a:r>
          </a:p>
        </p:txBody>
      </p:sp>
      <p:sp>
        <p:nvSpPr>
          <p:cNvPr id="42" name="Rounded Rectangle 41"/>
          <p:cNvSpPr/>
          <p:nvPr/>
        </p:nvSpPr>
        <p:spPr>
          <a:xfrm>
            <a:off x="10405872" y="4443983"/>
            <a:ext cx="932688" cy="438912"/>
          </a:xfrm>
          <a:prstGeom prst="roundRect">
            <a:avLst>
              <a:gd name="adj" fmla="val 12000"/>
            </a:avLst>
          </a:prstGeom>
          <a:solidFill>
            <a:srgbClr val="2E4B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437876" y="4544568"/>
            <a:ext cx="868680" cy="256032"/>
          </a:xfrm>
          <a:prstGeom prst="rect">
            <a:avLst/>
          </a:prstGeom>
          <a:noFill/>
        </p:spPr>
        <p:txBody>
          <a:bodyPr wrap="square" lIns="9144" rIns="9144" tIns="9144" bIns="9144">
            <a:spAutoFit/>
          </a:bodyPr>
          <a:lstStyle/>
          <a:p>
            <a:pPr>
              <a:spcAft>
                <a:spcPts val="500"/>
              </a:spcAft>
              <a:defRPr sz="1100" b="1">
                <a:solidFill>
                  <a:srgbClr val="FFFFFF"/>
                </a:solidFill>
                <a:latin typeface="Aptos"/>
              </a:defRPr>
            </a:pPr>
            <a:r>
              <a:t>Assistant</a:t>
            </a:r>
          </a:p>
        </p:txBody>
      </p:sp>
      <p:sp>
        <p:nvSpPr>
          <p:cNvPr id="44" name="TextBox 43"/>
          <p:cNvSpPr txBox="1"/>
          <p:nvPr/>
        </p:nvSpPr>
        <p:spPr>
          <a:xfrm>
            <a:off x="6382512" y="5166360"/>
            <a:ext cx="5029200" cy="201168"/>
          </a:xfrm>
          <a:prstGeom prst="rect">
            <a:avLst/>
          </a:prstGeom>
          <a:noFill/>
        </p:spPr>
        <p:txBody>
          <a:bodyPr wrap="square" lIns="9144" rIns="9144" tIns="9144" bIns="9144">
            <a:spAutoFit/>
          </a:bodyPr>
          <a:lstStyle/>
          <a:p>
            <a:pPr>
              <a:spcAft>
                <a:spcPts val="500"/>
              </a:spcAft>
              <a:defRPr sz="1000" b="0">
                <a:solidFill>
                  <a:srgbClr val="C3D4DF"/>
                </a:solidFill>
                <a:latin typeface="Aptos"/>
              </a:defRPr>
            </a:pPr>
            <a:r>
              <a:t>Independent training; shared serving remains to be benchmarked.</a:t>
            </a:r>
          </a:p>
        </p:txBody>
      </p:sp>
      <p:sp>
        <p:nvSpPr>
          <p:cNvPr id="45" name="Rounded Rectangle 44"/>
          <p:cNvSpPr/>
          <p:nvPr/>
        </p:nvSpPr>
        <p:spPr>
          <a:xfrm>
            <a:off x="548640" y="5742432"/>
            <a:ext cx="11109960" cy="420624"/>
          </a:xfrm>
          <a:prstGeom prst="roundRect">
            <a:avLst>
              <a:gd name="adj" fmla="val 12000"/>
            </a:avLst>
          </a:prstGeom>
          <a:solidFill>
            <a:srgbClr val="2540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31520" y="5815584"/>
            <a:ext cx="10744200" cy="274320"/>
          </a:xfrm>
          <a:prstGeom prst="rect">
            <a:avLst/>
          </a:prstGeom>
          <a:noFill/>
        </p:spPr>
        <p:txBody>
          <a:bodyPr wrap="square" lIns="9144" rIns="9144" tIns="9144" bIns="9144">
            <a:spAutoFit/>
          </a:bodyPr>
          <a:lstStyle/>
          <a:p>
            <a:pPr>
              <a:spcAft>
                <a:spcPts val="500"/>
              </a:spcAft>
              <a:defRPr sz="1500" b="0">
                <a:solidFill>
                  <a:srgbClr val="FFFFFF"/>
                </a:solidFill>
                <a:latin typeface="Aptos"/>
              </a:defRPr>
            </a:pPr>
            <a:r>
              <a:t>HYPOTHESIS  Better task/style fit with small updates; quality and safety must be measured.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3F6F8"/>
        </a:solidFill>
        <a:effectLst/>
      </p:bgPr>
    </p:bg>
    <p:spTree>
      <p:nvGrpSpPr>
        <p:cNvPr id="1" name=""/>
        <p:cNvGrpSpPr/>
        <p:nvPr/>
      </p:nvGrpSpPr>
      <p:grpSpPr/>
      <p:sp>
        <p:nvSpPr>
          <p:cNvPr id="2" name="TextBox 1"/>
          <p:cNvSpPr txBox="1"/>
          <p:nvPr/>
        </p:nvSpPr>
        <p:spPr>
          <a:xfrm>
            <a:off x="502920" y="228600"/>
            <a:ext cx="10789920" cy="246888"/>
          </a:xfrm>
          <a:prstGeom prst="rect">
            <a:avLst/>
          </a:prstGeom>
          <a:noFill/>
        </p:spPr>
        <p:txBody>
          <a:bodyPr wrap="square" lIns="9144" rIns="9144" tIns="9144" bIns="9144">
            <a:spAutoFit/>
          </a:bodyPr>
          <a:lstStyle/>
          <a:p>
            <a:pPr>
              <a:spcAft>
                <a:spcPts val="500"/>
              </a:spcAft>
              <a:defRPr sz="1100" b="1">
                <a:solidFill>
                  <a:srgbClr val="007F7A"/>
                </a:solidFill>
                <a:latin typeface="Aptos"/>
              </a:defRPr>
            </a:pPr>
            <a:r>
              <a:t>MULTI-LORA / LOCAL EXPERIMENT READOUT</a:t>
            </a:r>
          </a:p>
        </p:txBody>
      </p:sp>
      <p:sp>
        <p:nvSpPr>
          <p:cNvPr id="3" name="TextBox 2"/>
          <p:cNvSpPr txBox="1"/>
          <p:nvPr/>
        </p:nvSpPr>
        <p:spPr>
          <a:xfrm>
            <a:off x="502920" y="694944"/>
            <a:ext cx="11064240" cy="557784"/>
          </a:xfrm>
          <a:prstGeom prst="rect">
            <a:avLst/>
          </a:prstGeom>
          <a:noFill/>
        </p:spPr>
        <p:txBody>
          <a:bodyPr wrap="square" lIns="9144" rIns="9144" tIns="9144" bIns="9144">
            <a:spAutoFit/>
          </a:bodyPr>
          <a:lstStyle/>
          <a:p>
            <a:pPr>
              <a:spcAft>
                <a:spcPts val="500"/>
              </a:spcAft>
              <a:defRPr sz="3000" b="1">
                <a:solidFill>
                  <a:srgbClr val="10263C"/>
                </a:solidFill>
                <a:latin typeface="Aptos"/>
              </a:defRPr>
            </a:pPr>
            <a:r>
              <a:t>Data quality is part of the experiment</a:t>
            </a:r>
          </a:p>
        </p:txBody>
      </p:sp>
      <p:sp>
        <p:nvSpPr>
          <p:cNvPr id="4" name="TextBox 3"/>
          <p:cNvSpPr txBox="1"/>
          <p:nvPr/>
        </p:nvSpPr>
        <p:spPr>
          <a:xfrm>
            <a:off x="502920" y="1307592"/>
            <a:ext cx="11064240" cy="493776"/>
          </a:xfrm>
          <a:prstGeom prst="rect">
            <a:avLst/>
          </a:prstGeom>
          <a:noFill/>
        </p:spPr>
        <p:txBody>
          <a:bodyPr wrap="square" lIns="9144" rIns="9144" tIns="9144" bIns="9144">
            <a:spAutoFit/>
          </a:bodyPr>
          <a:lstStyle/>
          <a:p>
            <a:pPr>
              <a:spcAft>
                <a:spcPts val="500"/>
              </a:spcAft>
              <a:defRPr sz="1700" b="0">
                <a:solidFill>
                  <a:srgbClr val="536C7D"/>
                </a:solidFill>
                <a:latin typeface="Aptos"/>
              </a:defRPr>
            </a:pPr>
            <a:r>
              <a:t>Stable source emails, explicit synthetic references, and a sealed final holdout</a:t>
            </a:r>
          </a:p>
        </p:txBody>
      </p:sp>
      <p:cxnSp>
        <p:nvCxnSpPr>
          <p:cNvPr id="5" name="Connector 4"/>
          <p:cNvCxnSpPr/>
          <p:nvPr/>
        </p:nvCxnSpPr>
        <p:spPr>
          <a:xfrm>
            <a:off x="502920" y="6391656"/>
            <a:ext cx="11155680" cy="0"/>
          </a:xfrm>
          <a:prstGeom prst="line">
            <a:avLst/>
          </a:prstGeom>
          <a:ln w="15240">
            <a:solidFill>
              <a:srgbClr val="CFD9D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492240"/>
            <a:ext cx="10698480" cy="182880"/>
          </a:xfrm>
          <a:prstGeom prst="rect">
            <a:avLst/>
          </a:prstGeom>
          <a:noFill/>
        </p:spPr>
        <p:txBody>
          <a:bodyPr wrap="square" lIns="9144" rIns="9144" tIns="9144" bIns="9144">
            <a:spAutoFit/>
          </a:bodyPr>
          <a:lstStyle/>
          <a:p>
            <a:pPr>
              <a:spcAft>
                <a:spcPts val="500"/>
              </a:spcAft>
              <a:defRPr sz="900" b="0">
                <a:solidFill>
                  <a:srgbClr val="536C7D"/>
                </a:solidFill>
                <a:latin typeface="Aptos"/>
              </a:defRPr>
            </a:pPr>
            <a:r>
              <a:t>Sources: source/split manifests; reviewed response MANIFEST.json; config/persona_registry.json</a:t>
            </a:r>
          </a:p>
        </p:txBody>
      </p:sp>
      <p:sp>
        <p:nvSpPr>
          <p:cNvPr id="7" name="TextBox 6"/>
          <p:cNvSpPr txBox="1"/>
          <p:nvPr/>
        </p:nvSpPr>
        <p:spPr>
          <a:xfrm>
            <a:off x="11228832" y="6473952"/>
            <a:ext cx="457200" cy="228600"/>
          </a:xfrm>
          <a:prstGeom prst="rect">
            <a:avLst/>
          </a:prstGeom>
          <a:noFill/>
        </p:spPr>
        <p:txBody>
          <a:bodyPr wrap="square" lIns="9144" rIns="9144" tIns="9144" bIns="9144">
            <a:spAutoFit/>
          </a:bodyPr>
          <a:lstStyle/>
          <a:p>
            <a:pPr>
              <a:spcAft>
                <a:spcPts val="500"/>
              </a:spcAft>
              <a:defRPr sz="1100" b="1">
                <a:solidFill>
                  <a:srgbClr val="007F7A"/>
                </a:solidFill>
                <a:latin typeface="Aptos"/>
              </a:defRPr>
            </a:pPr>
            <a:r>
              <a:t>02</a:t>
            </a:r>
          </a:p>
        </p:txBody>
      </p:sp>
      <p:sp>
        <p:nvSpPr>
          <p:cNvPr id="8" name="Rounded Rectangle 7"/>
          <p:cNvSpPr/>
          <p:nvPr/>
        </p:nvSpPr>
        <p:spPr>
          <a:xfrm>
            <a:off x="502920" y="1965960"/>
            <a:ext cx="2679192" cy="1399032"/>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 y="2121408"/>
            <a:ext cx="2386584" cy="429768"/>
          </a:xfrm>
          <a:prstGeom prst="rect">
            <a:avLst/>
          </a:prstGeom>
          <a:noFill/>
        </p:spPr>
        <p:txBody>
          <a:bodyPr wrap="square" lIns="9144" rIns="9144" tIns="9144" bIns="9144">
            <a:spAutoFit/>
          </a:bodyPr>
          <a:lstStyle/>
          <a:p>
            <a:pPr>
              <a:spcAft>
                <a:spcPts val="500"/>
              </a:spcAft>
              <a:defRPr sz="2500" b="1">
                <a:solidFill>
                  <a:srgbClr val="007F7A"/>
                </a:solidFill>
                <a:latin typeface="Aptos"/>
              </a:defRPr>
            </a:pPr>
            <a:r>
              <a:t>2,105</a:t>
            </a:r>
          </a:p>
        </p:txBody>
      </p:sp>
      <p:sp>
        <p:nvSpPr>
          <p:cNvPr id="10" name="TextBox 9"/>
          <p:cNvSpPr txBox="1"/>
          <p:nvPr/>
        </p:nvSpPr>
        <p:spPr>
          <a:xfrm>
            <a:off x="649224" y="2615184"/>
            <a:ext cx="2386584" cy="274320"/>
          </a:xfrm>
          <a:prstGeom prst="rect">
            <a:avLst/>
          </a:prstGeom>
          <a:noFill/>
        </p:spPr>
        <p:txBody>
          <a:bodyPr wrap="square" lIns="9144" rIns="9144" tIns="9144" bIns="9144">
            <a:spAutoFit/>
          </a:bodyPr>
          <a:lstStyle/>
          <a:p>
            <a:pPr>
              <a:spcAft>
                <a:spcPts val="500"/>
              </a:spcAft>
              <a:defRPr sz="1600" b="1">
                <a:solidFill>
                  <a:srgbClr val="183247"/>
                </a:solidFill>
                <a:latin typeface="Aptos"/>
              </a:defRPr>
            </a:pPr>
            <a:r>
              <a:t>raw emails</a:t>
            </a:r>
          </a:p>
        </p:txBody>
      </p:sp>
      <p:sp>
        <p:nvSpPr>
          <p:cNvPr id="11" name="TextBox 10"/>
          <p:cNvSpPr txBox="1"/>
          <p:nvPr/>
        </p:nvSpPr>
        <p:spPr>
          <a:xfrm>
            <a:off x="649224" y="2953512"/>
            <a:ext cx="2386584" cy="274320"/>
          </a:xfrm>
          <a:prstGeom prst="rect">
            <a:avLst/>
          </a:prstGeom>
          <a:noFill/>
        </p:spPr>
        <p:txBody>
          <a:bodyPr wrap="square" lIns="9144" rIns="9144" tIns="9144" bIns="9144">
            <a:spAutoFit/>
          </a:bodyPr>
          <a:lstStyle/>
          <a:p>
            <a:pPr>
              <a:spcAft>
                <a:spcPts val="500"/>
              </a:spcAft>
              <a:defRPr sz="1100" b="0">
                <a:solidFill>
                  <a:srgbClr val="536C7D"/>
                </a:solidFill>
                <a:latin typeface="Aptos"/>
              </a:defRPr>
            </a:pPr>
            <a:r>
              <a:t>Pinned source revision</a:t>
            </a:r>
          </a:p>
        </p:txBody>
      </p:sp>
      <p:sp>
        <p:nvSpPr>
          <p:cNvPr id="12" name="Rounded Rectangle 11"/>
          <p:cNvSpPr/>
          <p:nvPr/>
        </p:nvSpPr>
        <p:spPr>
          <a:xfrm>
            <a:off x="3337560" y="1965960"/>
            <a:ext cx="2679192" cy="1399032"/>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83864" y="2121408"/>
            <a:ext cx="2386584" cy="429768"/>
          </a:xfrm>
          <a:prstGeom prst="rect">
            <a:avLst/>
          </a:prstGeom>
          <a:noFill/>
        </p:spPr>
        <p:txBody>
          <a:bodyPr wrap="square" lIns="9144" rIns="9144" tIns="9144" bIns="9144">
            <a:spAutoFit/>
          </a:bodyPr>
          <a:lstStyle/>
          <a:p>
            <a:pPr>
              <a:spcAft>
                <a:spcPts val="500"/>
              </a:spcAft>
              <a:defRPr sz="2500" b="1">
                <a:solidFill>
                  <a:srgbClr val="007F7A"/>
                </a:solidFill>
                <a:latin typeface="Aptos"/>
              </a:defRPr>
            </a:pPr>
            <a:r>
              <a:t>2,103</a:t>
            </a:r>
          </a:p>
        </p:txBody>
      </p:sp>
      <p:sp>
        <p:nvSpPr>
          <p:cNvPr id="14" name="TextBox 13"/>
          <p:cNvSpPr txBox="1"/>
          <p:nvPr/>
        </p:nvSpPr>
        <p:spPr>
          <a:xfrm>
            <a:off x="3483864" y="2615184"/>
            <a:ext cx="2386584" cy="274320"/>
          </a:xfrm>
          <a:prstGeom prst="rect">
            <a:avLst/>
          </a:prstGeom>
          <a:noFill/>
        </p:spPr>
        <p:txBody>
          <a:bodyPr wrap="square" lIns="9144" rIns="9144" tIns="9144" bIns="9144">
            <a:spAutoFit/>
          </a:bodyPr>
          <a:lstStyle/>
          <a:p>
            <a:pPr>
              <a:spcAft>
                <a:spcPts val="500"/>
              </a:spcAft>
              <a:defRPr sz="1600" b="1">
                <a:solidFill>
                  <a:srgbClr val="183247"/>
                </a:solidFill>
                <a:latin typeface="Aptos"/>
              </a:defRPr>
            </a:pPr>
            <a:r>
              <a:t>retained emails</a:t>
            </a:r>
          </a:p>
        </p:txBody>
      </p:sp>
      <p:sp>
        <p:nvSpPr>
          <p:cNvPr id="15" name="TextBox 14"/>
          <p:cNvSpPr txBox="1"/>
          <p:nvPr/>
        </p:nvSpPr>
        <p:spPr>
          <a:xfrm>
            <a:off x="3483864" y="2953512"/>
            <a:ext cx="2386584" cy="274320"/>
          </a:xfrm>
          <a:prstGeom prst="rect">
            <a:avLst/>
          </a:prstGeom>
          <a:noFill/>
        </p:spPr>
        <p:txBody>
          <a:bodyPr wrap="square" lIns="9144" rIns="9144" tIns="9144" bIns="9144">
            <a:spAutoFit/>
          </a:bodyPr>
          <a:lstStyle/>
          <a:p>
            <a:pPr>
              <a:spcAft>
                <a:spcPts val="500"/>
              </a:spcAft>
              <a:defRPr sz="1100" b="0">
                <a:solidFill>
                  <a:srgbClr val="536C7D"/>
                </a:solidFill>
                <a:latin typeface="Aptos"/>
              </a:defRPr>
            </a:pPr>
            <a:r>
              <a:t>2 conflicting duplicates quarantined</a:t>
            </a:r>
          </a:p>
        </p:txBody>
      </p:sp>
      <p:sp>
        <p:nvSpPr>
          <p:cNvPr id="16" name="Rounded Rectangle 15"/>
          <p:cNvSpPr/>
          <p:nvPr/>
        </p:nvSpPr>
        <p:spPr>
          <a:xfrm>
            <a:off x="6172200" y="1965960"/>
            <a:ext cx="2679192" cy="1399032"/>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18504" y="2121408"/>
            <a:ext cx="2386584" cy="429768"/>
          </a:xfrm>
          <a:prstGeom prst="rect">
            <a:avLst/>
          </a:prstGeom>
          <a:noFill/>
        </p:spPr>
        <p:txBody>
          <a:bodyPr wrap="square" lIns="9144" rIns="9144" tIns="9144" bIns="9144">
            <a:spAutoFit/>
          </a:bodyPr>
          <a:lstStyle/>
          <a:p>
            <a:pPr>
              <a:spcAft>
                <a:spcPts val="500"/>
              </a:spcAft>
              <a:defRPr sz="1900" b="1">
                <a:solidFill>
                  <a:srgbClr val="007F7A"/>
                </a:solidFill>
                <a:latin typeface="Aptos"/>
              </a:defRPr>
            </a:pPr>
            <a:r>
              <a:t>1,473 / 312 / 318</a:t>
            </a:r>
          </a:p>
        </p:txBody>
      </p:sp>
      <p:sp>
        <p:nvSpPr>
          <p:cNvPr id="18" name="TextBox 17"/>
          <p:cNvSpPr txBox="1"/>
          <p:nvPr/>
        </p:nvSpPr>
        <p:spPr>
          <a:xfrm>
            <a:off x="6318504" y="2615184"/>
            <a:ext cx="2386584" cy="274320"/>
          </a:xfrm>
          <a:prstGeom prst="rect">
            <a:avLst/>
          </a:prstGeom>
          <a:noFill/>
        </p:spPr>
        <p:txBody>
          <a:bodyPr wrap="square" lIns="9144" rIns="9144" tIns="9144" bIns="9144">
            <a:spAutoFit/>
          </a:bodyPr>
          <a:lstStyle/>
          <a:p>
            <a:pPr>
              <a:spcAft>
                <a:spcPts val="500"/>
              </a:spcAft>
              <a:defRPr sz="1600" b="1">
                <a:solidFill>
                  <a:srgbClr val="183247"/>
                </a:solidFill>
                <a:latin typeface="Aptos"/>
              </a:defRPr>
            </a:pPr>
            <a:r>
              <a:t>train / validation / test</a:t>
            </a:r>
          </a:p>
        </p:txBody>
      </p:sp>
      <p:sp>
        <p:nvSpPr>
          <p:cNvPr id="19" name="TextBox 18"/>
          <p:cNvSpPr txBox="1"/>
          <p:nvPr/>
        </p:nvSpPr>
        <p:spPr>
          <a:xfrm>
            <a:off x="6318504" y="2953512"/>
            <a:ext cx="2386584" cy="274320"/>
          </a:xfrm>
          <a:prstGeom prst="rect">
            <a:avLst/>
          </a:prstGeom>
          <a:noFill/>
        </p:spPr>
        <p:txBody>
          <a:bodyPr wrap="square" lIns="9144" rIns="9144" tIns="9144" bIns="9144">
            <a:spAutoFit/>
          </a:bodyPr>
          <a:lstStyle/>
          <a:p>
            <a:pPr>
              <a:spcAft>
                <a:spcPts val="500"/>
              </a:spcAft>
              <a:defRPr sz="1100" b="0">
                <a:solidFill>
                  <a:srgbClr val="536C7D"/>
                </a:solidFill>
                <a:latin typeface="Aptos"/>
              </a:defRPr>
            </a:pPr>
            <a:r>
              <a:t>Stable IDs; seed 2026</a:t>
            </a:r>
          </a:p>
        </p:txBody>
      </p:sp>
      <p:sp>
        <p:nvSpPr>
          <p:cNvPr id="20" name="Rounded Rectangle 19"/>
          <p:cNvSpPr/>
          <p:nvPr/>
        </p:nvSpPr>
        <p:spPr>
          <a:xfrm>
            <a:off x="9006840" y="1965960"/>
            <a:ext cx="2679192" cy="1399032"/>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53144" y="2121408"/>
            <a:ext cx="2386584" cy="429768"/>
          </a:xfrm>
          <a:prstGeom prst="rect">
            <a:avLst/>
          </a:prstGeom>
          <a:noFill/>
        </p:spPr>
        <p:txBody>
          <a:bodyPr wrap="square" lIns="9144" rIns="9144" tIns="9144" bIns="9144">
            <a:spAutoFit/>
          </a:bodyPr>
          <a:lstStyle/>
          <a:p>
            <a:pPr>
              <a:spcAft>
                <a:spcPts val="500"/>
              </a:spcAft>
              <a:defRPr sz="2500" b="1">
                <a:solidFill>
                  <a:srgbClr val="007F7A"/>
                </a:solidFill>
                <a:latin typeface="Aptos"/>
              </a:defRPr>
            </a:pPr>
            <a:r>
              <a:t>10 voices</a:t>
            </a:r>
          </a:p>
        </p:txBody>
      </p:sp>
      <p:sp>
        <p:nvSpPr>
          <p:cNvPr id="22" name="TextBox 21"/>
          <p:cNvSpPr txBox="1"/>
          <p:nvPr/>
        </p:nvSpPr>
        <p:spPr>
          <a:xfrm>
            <a:off x="9153144" y="2615184"/>
            <a:ext cx="2386584" cy="274320"/>
          </a:xfrm>
          <a:prstGeom prst="rect">
            <a:avLst/>
          </a:prstGeom>
          <a:noFill/>
        </p:spPr>
        <p:txBody>
          <a:bodyPr wrap="square" lIns="9144" rIns="9144" tIns="9144" bIns="9144">
            <a:spAutoFit/>
          </a:bodyPr>
          <a:lstStyle/>
          <a:p>
            <a:pPr>
              <a:spcAft>
                <a:spcPts val="500"/>
              </a:spcAft>
              <a:defRPr sz="1600" b="1">
                <a:solidFill>
                  <a:srgbClr val="183247"/>
                </a:solidFill>
                <a:latin typeface="Aptos"/>
              </a:defRPr>
            </a:pPr>
            <a:r>
              <a:t>trained persona datasets</a:t>
            </a:r>
          </a:p>
        </p:txBody>
      </p:sp>
      <p:sp>
        <p:nvSpPr>
          <p:cNvPr id="23" name="TextBox 22"/>
          <p:cNvSpPr txBox="1"/>
          <p:nvPr/>
        </p:nvSpPr>
        <p:spPr>
          <a:xfrm>
            <a:off x="9153144" y="2953512"/>
            <a:ext cx="2386584" cy="274320"/>
          </a:xfrm>
          <a:prstGeom prst="rect">
            <a:avLst/>
          </a:prstGeom>
          <a:noFill/>
        </p:spPr>
        <p:txBody>
          <a:bodyPr wrap="square" lIns="9144" rIns="9144" tIns="9144" bIns="9144">
            <a:spAutoFit/>
          </a:bodyPr>
          <a:lstStyle/>
          <a:p>
            <a:pPr>
              <a:spcAft>
                <a:spcPts val="500"/>
              </a:spcAft>
              <a:defRPr sz="1100" b="0">
                <a:solidFill>
                  <a:srgbClr val="536C7D"/>
                </a:solidFill>
                <a:latin typeface="Aptos"/>
              </a:defRPr>
            </a:pPr>
            <a:r>
              <a:t>Generic reference set also exists</a:t>
            </a:r>
          </a:p>
        </p:txBody>
      </p:sp>
      <p:sp>
        <p:nvSpPr>
          <p:cNvPr id="24" name="Rounded Rectangle 23"/>
          <p:cNvSpPr/>
          <p:nvPr/>
        </p:nvSpPr>
        <p:spPr>
          <a:xfrm>
            <a:off x="502920" y="3611880"/>
            <a:ext cx="5404104" cy="193852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04088" y="3803904"/>
            <a:ext cx="5029200" cy="256032"/>
          </a:xfrm>
          <a:prstGeom prst="rect">
            <a:avLst/>
          </a:prstGeom>
          <a:noFill/>
        </p:spPr>
        <p:txBody>
          <a:bodyPr wrap="square" lIns="9144" rIns="9144" tIns="9144" bIns="9144">
            <a:spAutoFit/>
          </a:bodyPr>
          <a:lstStyle/>
          <a:p>
            <a:pPr>
              <a:spcAft>
                <a:spcPts val="500"/>
              </a:spcAft>
              <a:defRPr sz="1200" b="1">
                <a:solidFill>
                  <a:srgbClr val="007F7A"/>
                </a:solidFill>
                <a:latin typeface="Aptos"/>
              </a:defRPr>
            </a:pPr>
            <a:r>
              <a:t>KEEP THE EXPERIMENTAL UNIT CLEAR</a:t>
            </a:r>
          </a:p>
        </p:txBody>
      </p:sp>
      <p:sp>
        <p:nvSpPr>
          <p:cNvPr id="26" name="TextBox 25"/>
          <p:cNvSpPr txBox="1"/>
          <p:nvPr/>
        </p:nvSpPr>
        <p:spPr>
          <a:xfrm>
            <a:off x="704088" y="4224528"/>
            <a:ext cx="4956048" cy="484632"/>
          </a:xfrm>
          <a:prstGeom prst="rect">
            <a:avLst/>
          </a:prstGeom>
          <a:noFill/>
        </p:spPr>
        <p:txBody>
          <a:bodyPr wrap="square" lIns="9144" rIns="9144" tIns="9144" bIns="9144">
            <a:spAutoFit/>
          </a:bodyPr>
          <a:lstStyle/>
          <a:p>
            <a:pPr>
              <a:spcAft>
                <a:spcPts val="500"/>
              </a:spcAft>
              <a:defRPr sz="2300" b="1">
                <a:solidFill>
                  <a:srgbClr val="10263C"/>
                </a:solidFill>
                <a:latin typeface="Aptos"/>
              </a:defRPr>
            </a:pPr>
            <a:r>
              <a:t>2,103 unique emails x 10 personas</a:t>
            </a:r>
          </a:p>
        </p:txBody>
      </p:sp>
      <p:sp>
        <p:nvSpPr>
          <p:cNvPr id="27" name="TextBox 26"/>
          <p:cNvSpPr txBox="1"/>
          <p:nvPr/>
        </p:nvSpPr>
        <p:spPr>
          <a:xfrm>
            <a:off x="704088" y="4773168"/>
            <a:ext cx="4937760" cy="658368"/>
          </a:xfrm>
          <a:prstGeom prst="rect">
            <a:avLst/>
          </a:prstGeom>
          <a:noFill/>
        </p:spPr>
        <p:txBody>
          <a:bodyPr wrap="square" lIns="9144" rIns="9144" tIns="9144" bIns="9144">
            <a:spAutoFit/>
          </a:bodyPr>
          <a:lstStyle/>
          <a:p>
            <a:pPr>
              <a:spcAft>
                <a:spcPts val="500"/>
              </a:spcAft>
              <a:defRPr sz="1700" b="0">
                <a:solidFill>
                  <a:srgbClr val="536C7D"/>
                </a:solidFill>
                <a:latin typeface="Aptos"/>
              </a:defRPr>
            </a:pPr>
            <a:r>
              <a:t>21,030 persona-email rows do not mean</a:t>
            </a:r>
          </a:p>
          <a:p>
            <a:pPr>
              <a:spcAft>
                <a:spcPts val="500"/>
              </a:spcAft>
              <a:defRPr sz="1700" b="0">
                <a:solidFill>
                  <a:srgbClr val="536C7D"/>
                </a:solidFill>
                <a:latin typeface="Aptos"/>
              </a:defRPr>
            </a:pPr>
            <a:r>
              <a:t>21,030 independent incoming emails.</a:t>
            </a:r>
          </a:p>
        </p:txBody>
      </p:sp>
      <p:sp>
        <p:nvSpPr>
          <p:cNvPr id="28" name="Rounded Rectangle 27"/>
          <p:cNvSpPr/>
          <p:nvPr/>
        </p:nvSpPr>
        <p:spPr>
          <a:xfrm>
            <a:off x="6126480" y="3611880"/>
            <a:ext cx="5532120" cy="193852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27648" y="3803904"/>
            <a:ext cx="5029200" cy="256032"/>
          </a:xfrm>
          <a:prstGeom prst="rect">
            <a:avLst/>
          </a:prstGeom>
          <a:noFill/>
        </p:spPr>
        <p:txBody>
          <a:bodyPr wrap="square" lIns="9144" rIns="9144" tIns="9144" bIns="9144">
            <a:spAutoFit/>
          </a:bodyPr>
          <a:lstStyle/>
          <a:p>
            <a:pPr>
              <a:spcAft>
                <a:spcPts val="500"/>
              </a:spcAft>
              <a:defRPr sz="1200" b="1">
                <a:solidFill>
                  <a:srgbClr val="007F7A"/>
                </a:solidFill>
                <a:latin typeface="Aptos"/>
              </a:defRPr>
            </a:pPr>
            <a:r>
              <a:t>REFERENCE AUTHORING + VALIDATION</a:t>
            </a:r>
          </a:p>
        </p:txBody>
      </p:sp>
      <p:sp>
        <p:nvSpPr>
          <p:cNvPr id="30" name="TextBox 29"/>
          <p:cNvSpPr txBox="1"/>
          <p:nvPr/>
        </p:nvSpPr>
        <p:spPr>
          <a:xfrm>
            <a:off x="6327648" y="4197096"/>
            <a:ext cx="5120640" cy="1078992"/>
          </a:xfrm>
          <a:prstGeom prst="rect">
            <a:avLst/>
          </a:prstGeom>
          <a:noFill/>
        </p:spPr>
        <p:txBody>
          <a:bodyPr wrap="square" lIns="9144" rIns="9144" tIns="9144" bIns="9144">
            <a:spAutoFit/>
          </a:bodyPr>
          <a:lstStyle/>
          <a:p>
            <a:pPr>
              <a:spcAft>
                <a:spcPts val="500"/>
              </a:spcAft>
              <a:defRPr sz="1700" b="0">
                <a:solidFill>
                  <a:srgbClr val="183247"/>
                </a:solidFill>
                <a:latin typeface="Aptos"/>
              </a:defRPr>
            </a:pPr>
            <a:r>
              <a:t>Assistant-authored replies grounded in email + profile</a:t>
            </a:r>
          </a:p>
          <a:p>
            <a:pPr>
              <a:spcAft>
                <a:spcPts val="500"/>
              </a:spcAft>
              <a:defRPr sz="1700" b="0">
                <a:solidFill>
                  <a:srgbClr val="183247"/>
                </a:solidFill>
                <a:latin typeface="Aptos"/>
              </a:defRPr>
            </a:pPr>
            <a:r>
              <a:t>Scripts validate IDs, coverage, schema, and hashes</a:t>
            </a:r>
          </a:p>
          <a:p>
            <a:pPr>
              <a:spcAft>
                <a:spcPts val="500"/>
              </a:spcAft>
              <a:defRPr sz="1700" b="0">
                <a:solidFill>
                  <a:srgbClr val="183247"/>
                </a:solidFill>
                <a:latin typeface="Aptos"/>
              </a:defRPr>
            </a:pPr>
            <a:r>
              <a:t>Synthetic references, not human-adjudicated truth</a:t>
            </a:r>
          </a:p>
        </p:txBody>
      </p:sp>
      <p:sp>
        <p:nvSpPr>
          <p:cNvPr id="31" name="Rounded Rectangle 30"/>
          <p:cNvSpPr/>
          <p:nvPr/>
        </p:nvSpPr>
        <p:spPr>
          <a:xfrm>
            <a:off x="502920" y="5769864"/>
            <a:ext cx="11155680" cy="384048"/>
          </a:xfrm>
          <a:prstGeom prst="roundRect">
            <a:avLst>
              <a:gd name="adj" fmla="val 12000"/>
            </a:avLst>
          </a:prstGeom>
          <a:solidFill>
            <a:srgbClr val="E3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04088" y="5824728"/>
            <a:ext cx="10753344" cy="265176"/>
          </a:xfrm>
          <a:prstGeom prst="rect">
            <a:avLst/>
          </a:prstGeom>
          <a:noFill/>
        </p:spPr>
        <p:txBody>
          <a:bodyPr wrap="square" lIns="9144" rIns="9144" tIns="9144" bIns="9144">
            <a:spAutoFit/>
          </a:bodyPr>
          <a:lstStyle/>
          <a:p>
            <a:pPr>
              <a:spcAft>
                <a:spcPts val="500"/>
              </a:spcAft>
              <a:defRPr sz="1400" b="0">
                <a:solidFill>
                  <a:srgbClr val="007F7A"/>
                </a:solidFill>
                <a:latin typeface="Aptos"/>
              </a:defRPr>
            </a:pPr>
            <a:r>
              <a:t>Leakage control: exact-duplicate separation and stable splits; near-duplicate/thread leakage still needs review.</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3F6F8"/>
        </a:solidFill>
        <a:effectLst/>
      </p:bgPr>
    </p:bg>
    <p:spTree>
      <p:nvGrpSpPr>
        <p:cNvPr id="1" name=""/>
        <p:cNvGrpSpPr/>
        <p:nvPr/>
      </p:nvGrpSpPr>
      <p:grpSpPr/>
      <p:sp>
        <p:nvSpPr>
          <p:cNvPr id="2" name="TextBox 1"/>
          <p:cNvSpPr txBox="1"/>
          <p:nvPr/>
        </p:nvSpPr>
        <p:spPr>
          <a:xfrm>
            <a:off x="502920" y="228600"/>
            <a:ext cx="10789920" cy="246888"/>
          </a:xfrm>
          <a:prstGeom prst="rect">
            <a:avLst/>
          </a:prstGeom>
          <a:noFill/>
        </p:spPr>
        <p:txBody>
          <a:bodyPr wrap="square" lIns="9144" rIns="9144" tIns="9144" bIns="9144">
            <a:spAutoFit/>
          </a:bodyPr>
          <a:lstStyle/>
          <a:p>
            <a:pPr>
              <a:spcAft>
                <a:spcPts val="500"/>
              </a:spcAft>
              <a:defRPr sz="1100" b="1">
                <a:solidFill>
                  <a:srgbClr val="007F7A"/>
                </a:solidFill>
                <a:latin typeface="Aptos"/>
              </a:defRPr>
            </a:pPr>
            <a:r>
              <a:t>MULTI-LORA / LOCAL EXPERIMENT READOUT</a:t>
            </a:r>
          </a:p>
        </p:txBody>
      </p:sp>
      <p:sp>
        <p:nvSpPr>
          <p:cNvPr id="3" name="TextBox 2"/>
          <p:cNvSpPr txBox="1"/>
          <p:nvPr/>
        </p:nvSpPr>
        <p:spPr>
          <a:xfrm>
            <a:off x="502920" y="694944"/>
            <a:ext cx="11064240" cy="557784"/>
          </a:xfrm>
          <a:prstGeom prst="rect">
            <a:avLst/>
          </a:prstGeom>
          <a:noFill/>
        </p:spPr>
        <p:txBody>
          <a:bodyPr wrap="square" lIns="9144" rIns="9144" tIns="9144" bIns="9144">
            <a:spAutoFit/>
          </a:bodyPr>
          <a:lstStyle/>
          <a:p>
            <a:pPr>
              <a:spcAft>
                <a:spcPts val="500"/>
              </a:spcAft>
              <a:defRPr sz="3000" b="1">
                <a:solidFill>
                  <a:srgbClr val="10263C"/>
                </a:solidFill>
                <a:latin typeface="Aptos"/>
              </a:defRPr>
            </a:pPr>
            <a:r>
              <a:t>Ten adapters. One GPU. Independent runs.</a:t>
            </a:r>
          </a:p>
        </p:txBody>
      </p:sp>
      <p:sp>
        <p:nvSpPr>
          <p:cNvPr id="4" name="TextBox 3"/>
          <p:cNvSpPr txBox="1"/>
          <p:nvPr/>
        </p:nvSpPr>
        <p:spPr>
          <a:xfrm>
            <a:off x="502920" y="1307592"/>
            <a:ext cx="11064240" cy="493776"/>
          </a:xfrm>
          <a:prstGeom prst="rect">
            <a:avLst/>
          </a:prstGeom>
          <a:noFill/>
        </p:spPr>
        <p:txBody>
          <a:bodyPr wrap="square" lIns="9144" rIns="9144" tIns="9144" bIns="9144">
            <a:spAutoFit/>
          </a:bodyPr>
          <a:lstStyle/>
          <a:p>
            <a:pPr>
              <a:spcAft>
                <a:spcPts val="500"/>
              </a:spcAft>
              <a:defRPr sz="1700" b="0">
                <a:solidFill>
                  <a:srgbClr val="536C7D"/>
                </a:solidFill>
                <a:latin typeface="Aptos"/>
              </a:defRPr>
            </a:pPr>
            <a:r>
              <a:t>Qwen2.5-3B-Instruct selected for practical local reply training, not as a proven quality winner</a:t>
            </a:r>
          </a:p>
        </p:txBody>
      </p:sp>
      <p:cxnSp>
        <p:nvCxnSpPr>
          <p:cNvPr id="5" name="Connector 4"/>
          <p:cNvCxnSpPr/>
          <p:nvPr/>
        </p:nvCxnSpPr>
        <p:spPr>
          <a:xfrm>
            <a:off x="502920" y="6391656"/>
            <a:ext cx="11155680" cy="0"/>
          </a:xfrm>
          <a:prstGeom prst="line">
            <a:avLst/>
          </a:prstGeom>
          <a:ln w="15240">
            <a:solidFill>
              <a:srgbClr val="CFD9D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492240"/>
            <a:ext cx="10698480" cy="182880"/>
          </a:xfrm>
          <a:prstGeom prst="rect">
            <a:avLst/>
          </a:prstGeom>
          <a:noFill/>
        </p:spPr>
        <p:txBody>
          <a:bodyPr wrap="square" lIns="9144" rIns="9144" tIns="9144" bIns="9144">
            <a:spAutoFit/>
          </a:bodyPr>
          <a:lstStyle/>
          <a:p>
            <a:pPr>
              <a:spcAft>
                <a:spcPts val="500"/>
              </a:spcAft>
              <a:defRPr sz="900" b="0">
                <a:solidFill>
                  <a:srgbClr val="536C7D"/>
                </a:solidFill>
                <a:latin typeface="Aptos"/>
              </a:defRPr>
            </a:pPr>
            <a:r>
              <a:t>Sources: persona pipeline result + adapter manifests; elapsed time excludes setup, downloads, and generation evaluation</a:t>
            </a:r>
          </a:p>
        </p:txBody>
      </p:sp>
      <p:sp>
        <p:nvSpPr>
          <p:cNvPr id="7" name="TextBox 6"/>
          <p:cNvSpPr txBox="1"/>
          <p:nvPr/>
        </p:nvSpPr>
        <p:spPr>
          <a:xfrm>
            <a:off x="11228832" y="6473952"/>
            <a:ext cx="457200" cy="228600"/>
          </a:xfrm>
          <a:prstGeom prst="rect">
            <a:avLst/>
          </a:prstGeom>
          <a:noFill/>
        </p:spPr>
        <p:txBody>
          <a:bodyPr wrap="square" lIns="9144" rIns="9144" tIns="9144" bIns="9144">
            <a:spAutoFit/>
          </a:bodyPr>
          <a:lstStyle/>
          <a:p>
            <a:pPr>
              <a:spcAft>
                <a:spcPts val="500"/>
              </a:spcAft>
              <a:defRPr sz="1100" b="1">
                <a:solidFill>
                  <a:srgbClr val="007F7A"/>
                </a:solidFill>
                <a:latin typeface="Aptos"/>
              </a:defRPr>
            </a:pPr>
            <a:r>
              <a:t>03</a:t>
            </a:r>
          </a:p>
        </p:txBody>
      </p:sp>
      <p:sp>
        <p:nvSpPr>
          <p:cNvPr id="8" name="Rounded Rectangle 7"/>
          <p:cNvSpPr/>
          <p:nvPr/>
        </p:nvSpPr>
        <p:spPr>
          <a:xfrm>
            <a:off x="502920" y="1965960"/>
            <a:ext cx="3529584" cy="1024128"/>
          </a:xfrm>
          <a:prstGeom prst="roundRect">
            <a:avLst>
              <a:gd name="adj" fmla="val 12000"/>
            </a:avLst>
          </a:prstGeom>
          <a:solidFill>
            <a:srgbClr val="007F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093976"/>
            <a:ext cx="3163824" cy="393192"/>
          </a:xfrm>
          <a:prstGeom prst="rect">
            <a:avLst/>
          </a:prstGeom>
          <a:noFill/>
        </p:spPr>
        <p:txBody>
          <a:bodyPr wrap="square" lIns="9144" rIns="9144" tIns="9144" bIns="9144">
            <a:spAutoFit/>
          </a:bodyPr>
          <a:lstStyle/>
          <a:p>
            <a:pPr>
              <a:spcAft>
                <a:spcPts val="500"/>
              </a:spcAft>
              <a:defRPr sz="2500" b="1">
                <a:solidFill>
                  <a:srgbClr val="FFFFFF"/>
                </a:solidFill>
                <a:latin typeface="Aptos"/>
              </a:defRPr>
            </a:pPr>
            <a:r>
              <a:t>Qwen 3B</a:t>
            </a:r>
          </a:p>
        </p:txBody>
      </p:sp>
      <p:sp>
        <p:nvSpPr>
          <p:cNvPr id="10" name="TextBox 9"/>
          <p:cNvSpPr txBox="1"/>
          <p:nvPr/>
        </p:nvSpPr>
        <p:spPr>
          <a:xfrm>
            <a:off x="685800" y="2578608"/>
            <a:ext cx="3163824" cy="237744"/>
          </a:xfrm>
          <a:prstGeom prst="rect">
            <a:avLst/>
          </a:prstGeom>
          <a:noFill/>
        </p:spPr>
        <p:txBody>
          <a:bodyPr wrap="square" lIns="9144" rIns="9144" tIns="9144" bIns="9144">
            <a:spAutoFit/>
          </a:bodyPr>
          <a:lstStyle/>
          <a:p>
            <a:pPr>
              <a:spcAft>
                <a:spcPts val="500"/>
              </a:spcAft>
              <a:defRPr sz="1200" b="0">
                <a:solidFill>
                  <a:srgbClr val="FFFFFF"/>
                </a:solidFill>
                <a:latin typeface="Aptos"/>
              </a:defRPr>
            </a:pPr>
            <a:r>
              <a:t>Pinned frozen base</a:t>
            </a:r>
          </a:p>
        </p:txBody>
      </p:sp>
      <p:sp>
        <p:nvSpPr>
          <p:cNvPr id="11" name="Rounded Rectangle 10"/>
          <p:cNvSpPr/>
          <p:nvPr/>
        </p:nvSpPr>
        <p:spPr>
          <a:xfrm>
            <a:off x="4315968" y="1965960"/>
            <a:ext cx="3529584" cy="102412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98848" y="2093976"/>
            <a:ext cx="3163824" cy="393192"/>
          </a:xfrm>
          <a:prstGeom prst="rect">
            <a:avLst/>
          </a:prstGeom>
          <a:noFill/>
        </p:spPr>
        <p:txBody>
          <a:bodyPr wrap="square" lIns="9144" rIns="9144" tIns="9144" bIns="9144">
            <a:spAutoFit/>
          </a:bodyPr>
          <a:lstStyle/>
          <a:p>
            <a:pPr>
              <a:spcAft>
                <a:spcPts val="500"/>
              </a:spcAft>
              <a:defRPr sz="2500" b="1">
                <a:solidFill>
                  <a:srgbClr val="10263C"/>
                </a:solidFill>
                <a:latin typeface="Aptos"/>
              </a:defRPr>
            </a:pPr>
            <a:r>
              <a:t>10 x rank-8</a:t>
            </a:r>
          </a:p>
        </p:txBody>
      </p:sp>
      <p:sp>
        <p:nvSpPr>
          <p:cNvPr id="13" name="TextBox 12"/>
          <p:cNvSpPr txBox="1"/>
          <p:nvPr/>
        </p:nvSpPr>
        <p:spPr>
          <a:xfrm>
            <a:off x="4498848" y="2578608"/>
            <a:ext cx="3163824" cy="237744"/>
          </a:xfrm>
          <a:prstGeom prst="rect">
            <a:avLst/>
          </a:prstGeom>
          <a:noFill/>
        </p:spPr>
        <p:txBody>
          <a:bodyPr wrap="square" lIns="9144" rIns="9144" tIns="9144" bIns="9144">
            <a:spAutoFit/>
          </a:bodyPr>
          <a:lstStyle/>
          <a:p>
            <a:pPr>
              <a:spcAft>
                <a:spcPts val="500"/>
              </a:spcAft>
              <a:defRPr sz="1200" b="0">
                <a:solidFill>
                  <a:srgbClr val="536C7D"/>
                </a:solidFill>
                <a:latin typeface="Aptos"/>
              </a:defRPr>
            </a:pPr>
            <a:r>
              <a:t>Fresh adapter + optimizer per client</a:t>
            </a:r>
          </a:p>
        </p:txBody>
      </p:sp>
      <p:sp>
        <p:nvSpPr>
          <p:cNvPr id="14" name="Rounded Rectangle 13"/>
          <p:cNvSpPr/>
          <p:nvPr/>
        </p:nvSpPr>
        <p:spPr>
          <a:xfrm>
            <a:off x="8129016" y="1965960"/>
            <a:ext cx="3529584" cy="102412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11896" y="2093976"/>
            <a:ext cx="3163824" cy="393192"/>
          </a:xfrm>
          <a:prstGeom prst="rect">
            <a:avLst/>
          </a:prstGeom>
          <a:noFill/>
        </p:spPr>
        <p:txBody>
          <a:bodyPr wrap="square" lIns="9144" rIns="9144" tIns="9144" bIns="9144">
            <a:spAutoFit/>
          </a:bodyPr>
          <a:lstStyle/>
          <a:p>
            <a:pPr>
              <a:spcAft>
                <a:spcPts val="500"/>
              </a:spcAft>
              <a:defRPr sz="2500" b="1">
                <a:solidFill>
                  <a:srgbClr val="10263C"/>
                </a:solidFill>
                <a:latin typeface="Aptos"/>
              </a:defRPr>
            </a:pPr>
            <a:r>
              <a:t>96.7 min</a:t>
            </a:r>
          </a:p>
        </p:txBody>
      </p:sp>
      <p:sp>
        <p:nvSpPr>
          <p:cNvPr id="16" name="TextBox 15"/>
          <p:cNvSpPr txBox="1"/>
          <p:nvPr/>
        </p:nvSpPr>
        <p:spPr>
          <a:xfrm>
            <a:off x="8311896" y="2578608"/>
            <a:ext cx="3163824" cy="237744"/>
          </a:xfrm>
          <a:prstGeom prst="rect">
            <a:avLst/>
          </a:prstGeom>
          <a:noFill/>
        </p:spPr>
        <p:txBody>
          <a:bodyPr wrap="square" lIns="9144" rIns="9144" tIns="9144" bIns="9144">
            <a:spAutoFit/>
          </a:bodyPr>
          <a:lstStyle/>
          <a:p>
            <a:pPr>
              <a:spcAft>
                <a:spcPts val="500"/>
              </a:spcAft>
              <a:defRPr sz="1200" b="0">
                <a:solidFill>
                  <a:srgbClr val="536C7D"/>
                </a:solidFill>
                <a:latin typeface="Aptos"/>
              </a:defRPr>
            </a:pPr>
            <a:r>
              <a:t>Recorded training on RTX 3090 / 24 GiB</a:t>
            </a:r>
          </a:p>
        </p:txBody>
      </p:sp>
      <p:sp>
        <p:nvSpPr>
          <p:cNvPr id="17" name="Rounded Rectangle 16"/>
          <p:cNvSpPr/>
          <p:nvPr/>
        </p:nvSpPr>
        <p:spPr>
          <a:xfrm>
            <a:off x="502920" y="3227832"/>
            <a:ext cx="5404104" cy="237744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3232" y="3429000"/>
            <a:ext cx="5029200" cy="256032"/>
          </a:xfrm>
          <a:prstGeom prst="rect">
            <a:avLst/>
          </a:prstGeom>
          <a:noFill/>
        </p:spPr>
        <p:txBody>
          <a:bodyPr wrap="square" lIns="9144" rIns="9144" tIns="9144" bIns="9144">
            <a:spAutoFit/>
          </a:bodyPr>
          <a:lstStyle/>
          <a:p>
            <a:pPr>
              <a:spcAft>
                <a:spcPts val="500"/>
              </a:spcAft>
              <a:defRPr sz="1200" b="1">
                <a:solidFill>
                  <a:srgbClr val="007F7A"/>
                </a:solidFill>
                <a:latin typeface="Aptos"/>
              </a:defRPr>
            </a:pPr>
            <a:r>
              <a:t>TRAINING CONTRACT</a:t>
            </a:r>
          </a:p>
        </p:txBody>
      </p:sp>
      <p:sp>
        <p:nvSpPr>
          <p:cNvPr id="19" name="TextBox 18"/>
          <p:cNvSpPr txBox="1"/>
          <p:nvPr/>
        </p:nvSpPr>
        <p:spPr>
          <a:xfrm>
            <a:off x="713232" y="3813048"/>
            <a:ext cx="1508760" cy="256032"/>
          </a:xfrm>
          <a:prstGeom prst="rect">
            <a:avLst/>
          </a:prstGeom>
          <a:noFill/>
        </p:spPr>
        <p:txBody>
          <a:bodyPr wrap="square" lIns="9144" rIns="9144" tIns="9144" bIns="9144">
            <a:spAutoFit/>
          </a:bodyPr>
          <a:lstStyle/>
          <a:p>
            <a:pPr>
              <a:spcAft>
                <a:spcPts val="500"/>
              </a:spcAft>
              <a:defRPr sz="1300" b="0">
                <a:solidFill>
                  <a:srgbClr val="536C7D"/>
                </a:solidFill>
                <a:latin typeface="Aptos"/>
              </a:defRPr>
            </a:pPr>
            <a:r>
              <a:t>Data / client</a:t>
            </a:r>
          </a:p>
        </p:txBody>
      </p:sp>
      <p:sp>
        <p:nvSpPr>
          <p:cNvPr id="20" name="TextBox 19"/>
          <p:cNvSpPr txBox="1"/>
          <p:nvPr/>
        </p:nvSpPr>
        <p:spPr>
          <a:xfrm>
            <a:off x="2240280" y="3813048"/>
            <a:ext cx="3410712" cy="265176"/>
          </a:xfrm>
          <a:prstGeom prst="rect">
            <a:avLst/>
          </a:prstGeom>
          <a:noFill/>
        </p:spPr>
        <p:txBody>
          <a:bodyPr wrap="square" lIns="9144" rIns="9144" tIns="9144" bIns="9144">
            <a:spAutoFit/>
          </a:bodyPr>
          <a:lstStyle/>
          <a:p>
            <a:pPr>
              <a:spcAft>
                <a:spcPts val="500"/>
              </a:spcAft>
              <a:defRPr sz="1300" b="1">
                <a:solidFill>
                  <a:srgbClr val="183247"/>
                </a:solidFill>
                <a:latin typeface="Aptos"/>
              </a:defRPr>
            </a:pPr>
            <a:r>
              <a:t>1,473 train; 312 validation</a:t>
            </a:r>
          </a:p>
        </p:txBody>
      </p:sp>
      <p:sp>
        <p:nvSpPr>
          <p:cNvPr id="21" name="TextBox 20"/>
          <p:cNvSpPr txBox="1"/>
          <p:nvPr/>
        </p:nvSpPr>
        <p:spPr>
          <a:xfrm>
            <a:off x="713232" y="4123944"/>
            <a:ext cx="1508760" cy="256032"/>
          </a:xfrm>
          <a:prstGeom prst="rect">
            <a:avLst/>
          </a:prstGeom>
          <a:noFill/>
        </p:spPr>
        <p:txBody>
          <a:bodyPr wrap="square" lIns="9144" rIns="9144" tIns="9144" bIns="9144">
            <a:spAutoFit/>
          </a:bodyPr>
          <a:lstStyle/>
          <a:p>
            <a:pPr>
              <a:spcAft>
                <a:spcPts val="500"/>
              </a:spcAft>
              <a:defRPr sz="1300" b="0">
                <a:solidFill>
                  <a:srgbClr val="536C7D"/>
                </a:solidFill>
                <a:latin typeface="Aptos"/>
              </a:defRPr>
            </a:pPr>
            <a:r>
              <a:t>Optimization</a:t>
            </a:r>
          </a:p>
        </p:txBody>
      </p:sp>
      <p:sp>
        <p:nvSpPr>
          <p:cNvPr id="22" name="TextBox 21"/>
          <p:cNvSpPr txBox="1"/>
          <p:nvPr/>
        </p:nvSpPr>
        <p:spPr>
          <a:xfrm>
            <a:off x="2240280" y="4123944"/>
            <a:ext cx="3410712" cy="265176"/>
          </a:xfrm>
          <a:prstGeom prst="rect">
            <a:avLst/>
          </a:prstGeom>
          <a:noFill/>
        </p:spPr>
        <p:txBody>
          <a:bodyPr wrap="square" lIns="9144" rIns="9144" tIns="9144" bIns="9144">
            <a:spAutoFit/>
          </a:bodyPr>
          <a:lstStyle/>
          <a:p>
            <a:pPr>
              <a:spcAft>
                <a:spcPts val="500"/>
              </a:spcAft>
              <a:defRPr sz="1300" b="1">
                <a:solidFill>
                  <a:srgbClr val="183247"/>
                </a:solidFill>
                <a:latin typeface="Aptos"/>
              </a:defRPr>
            </a:pPr>
            <a:r>
              <a:t>1 epoch; LR 2e-4; batch 1 x accum. 8</a:t>
            </a:r>
          </a:p>
        </p:txBody>
      </p:sp>
      <p:sp>
        <p:nvSpPr>
          <p:cNvPr id="23" name="TextBox 22"/>
          <p:cNvSpPr txBox="1"/>
          <p:nvPr/>
        </p:nvSpPr>
        <p:spPr>
          <a:xfrm>
            <a:off x="713232" y="4434840"/>
            <a:ext cx="1508760" cy="256032"/>
          </a:xfrm>
          <a:prstGeom prst="rect">
            <a:avLst/>
          </a:prstGeom>
          <a:noFill/>
        </p:spPr>
        <p:txBody>
          <a:bodyPr wrap="square" lIns="9144" rIns="9144" tIns="9144" bIns="9144">
            <a:spAutoFit/>
          </a:bodyPr>
          <a:lstStyle/>
          <a:p>
            <a:pPr>
              <a:spcAft>
                <a:spcPts val="500"/>
              </a:spcAft>
              <a:defRPr sz="1300" b="0">
                <a:solidFill>
                  <a:srgbClr val="536C7D"/>
                </a:solidFill>
                <a:latin typeface="Aptos"/>
              </a:defRPr>
            </a:pPr>
            <a:r>
              <a:t>LoRA / precision</a:t>
            </a:r>
          </a:p>
        </p:txBody>
      </p:sp>
      <p:sp>
        <p:nvSpPr>
          <p:cNvPr id="24" name="TextBox 23"/>
          <p:cNvSpPr txBox="1"/>
          <p:nvPr/>
        </p:nvSpPr>
        <p:spPr>
          <a:xfrm>
            <a:off x="2240280" y="4434840"/>
            <a:ext cx="3410712" cy="265176"/>
          </a:xfrm>
          <a:prstGeom prst="rect">
            <a:avLst/>
          </a:prstGeom>
          <a:noFill/>
        </p:spPr>
        <p:txBody>
          <a:bodyPr wrap="square" lIns="9144" rIns="9144" tIns="9144" bIns="9144">
            <a:spAutoFit/>
          </a:bodyPr>
          <a:lstStyle/>
          <a:p>
            <a:pPr>
              <a:spcAft>
                <a:spcPts val="500"/>
              </a:spcAft>
              <a:defRPr sz="1300" b="1">
                <a:solidFill>
                  <a:srgbClr val="183247"/>
                </a:solidFill>
                <a:latin typeface="Aptos"/>
              </a:defRPr>
            </a:pPr>
            <a:r>
              <a:t>q_proj + v_proj; rank 8; BF16</a:t>
            </a:r>
          </a:p>
        </p:txBody>
      </p:sp>
      <p:sp>
        <p:nvSpPr>
          <p:cNvPr id="25" name="TextBox 24"/>
          <p:cNvSpPr txBox="1"/>
          <p:nvPr/>
        </p:nvSpPr>
        <p:spPr>
          <a:xfrm>
            <a:off x="713232" y="4745736"/>
            <a:ext cx="1508760" cy="256032"/>
          </a:xfrm>
          <a:prstGeom prst="rect">
            <a:avLst/>
          </a:prstGeom>
          <a:noFill/>
        </p:spPr>
        <p:txBody>
          <a:bodyPr wrap="square" lIns="9144" rIns="9144" tIns="9144" bIns="9144">
            <a:spAutoFit/>
          </a:bodyPr>
          <a:lstStyle/>
          <a:p>
            <a:pPr>
              <a:spcAft>
                <a:spcPts val="500"/>
              </a:spcAft>
              <a:defRPr sz="1300" b="0">
                <a:solidFill>
                  <a:srgbClr val="536C7D"/>
                </a:solidFill>
                <a:latin typeface="Aptos"/>
              </a:defRPr>
            </a:pPr>
            <a:r>
              <a:t>Context / selection</a:t>
            </a:r>
          </a:p>
        </p:txBody>
      </p:sp>
      <p:sp>
        <p:nvSpPr>
          <p:cNvPr id="26" name="TextBox 25"/>
          <p:cNvSpPr txBox="1"/>
          <p:nvPr/>
        </p:nvSpPr>
        <p:spPr>
          <a:xfrm>
            <a:off x="2240280" y="4745736"/>
            <a:ext cx="3410712" cy="265176"/>
          </a:xfrm>
          <a:prstGeom prst="rect">
            <a:avLst/>
          </a:prstGeom>
          <a:noFill/>
        </p:spPr>
        <p:txBody>
          <a:bodyPr wrap="square" lIns="9144" rIns="9144" tIns="9144" bIns="9144">
            <a:spAutoFit/>
          </a:bodyPr>
          <a:lstStyle/>
          <a:p>
            <a:pPr>
              <a:spcAft>
                <a:spcPts val="500"/>
              </a:spcAft>
              <a:defRPr sz="1300" b="1">
                <a:solidFill>
                  <a:srgbClr val="183247"/>
                </a:solidFill>
                <a:latin typeface="Aptos"/>
              </a:defRPr>
            </a:pPr>
            <a:r>
              <a:t>1,024 tokens; lowest validation loss</a:t>
            </a:r>
          </a:p>
        </p:txBody>
      </p:sp>
      <p:sp>
        <p:nvSpPr>
          <p:cNvPr id="27" name="TextBox 26"/>
          <p:cNvSpPr txBox="1"/>
          <p:nvPr/>
        </p:nvSpPr>
        <p:spPr>
          <a:xfrm>
            <a:off x="713232" y="5056632"/>
            <a:ext cx="1508760" cy="256032"/>
          </a:xfrm>
          <a:prstGeom prst="rect">
            <a:avLst/>
          </a:prstGeom>
          <a:noFill/>
        </p:spPr>
        <p:txBody>
          <a:bodyPr wrap="square" lIns="9144" rIns="9144" tIns="9144" bIns="9144">
            <a:spAutoFit/>
          </a:bodyPr>
          <a:lstStyle/>
          <a:p>
            <a:pPr>
              <a:spcAft>
                <a:spcPts val="500"/>
              </a:spcAft>
              <a:defRPr sz="1300" b="0">
                <a:solidFill>
                  <a:srgbClr val="536C7D"/>
                </a:solidFill>
                <a:latin typeface="Aptos"/>
              </a:defRPr>
            </a:pPr>
            <a:r>
              <a:t>Loss</a:t>
            </a:r>
          </a:p>
        </p:txBody>
      </p:sp>
      <p:sp>
        <p:nvSpPr>
          <p:cNvPr id="28" name="TextBox 27"/>
          <p:cNvSpPr txBox="1"/>
          <p:nvPr/>
        </p:nvSpPr>
        <p:spPr>
          <a:xfrm>
            <a:off x="2240280" y="5056632"/>
            <a:ext cx="3410712" cy="265176"/>
          </a:xfrm>
          <a:prstGeom prst="rect">
            <a:avLst/>
          </a:prstGeom>
          <a:noFill/>
        </p:spPr>
        <p:txBody>
          <a:bodyPr wrap="square" lIns="9144" rIns="9144" tIns="9144" bIns="9144">
            <a:spAutoFit/>
          </a:bodyPr>
          <a:lstStyle/>
          <a:p>
            <a:pPr>
              <a:spcAft>
                <a:spcPts val="500"/>
              </a:spcAft>
              <a:defRPr sz="1300" b="1">
                <a:solidFill>
                  <a:srgbClr val="183247"/>
                </a:solidFill>
                <a:latin typeface="Aptos"/>
              </a:defRPr>
            </a:pPr>
            <a:r>
              <a:t>Reply-only; prompt and padding masked</a:t>
            </a:r>
          </a:p>
        </p:txBody>
      </p:sp>
      <p:sp>
        <p:nvSpPr>
          <p:cNvPr id="29" name="Rounded Rectangle 28"/>
          <p:cNvSpPr/>
          <p:nvPr/>
        </p:nvSpPr>
        <p:spPr>
          <a:xfrm>
            <a:off x="6126480" y="3227832"/>
            <a:ext cx="5532120" cy="237744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36792" y="3429000"/>
            <a:ext cx="5029200" cy="256032"/>
          </a:xfrm>
          <a:prstGeom prst="rect">
            <a:avLst/>
          </a:prstGeom>
          <a:noFill/>
        </p:spPr>
        <p:txBody>
          <a:bodyPr wrap="square" lIns="9144" rIns="9144" tIns="9144" bIns="9144">
            <a:spAutoFit/>
          </a:bodyPr>
          <a:lstStyle/>
          <a:p>
            <a:pPr>
              <a:spcAft>
                <a:spcPts val="500"/>
              </a:spcAft>
              <a:defRPr sz="1200" b="1">
                <a:solidFill>
                  <a:srgbClr val="007F7A"/>
                </a:solidFill>
                <a:latin typeface="Aptos"/>
              </a:defRPr>
            </a:pPr>
            <a:r>
              <a:t>EXECUTION + REUSE</a:t>
            </a:r>
          </a:p>
        </p:txBody>
      </p:sp>
      <p:sp>
        <p:nvSpPr>
          <p:cNvPr id="31" name="TextBox 30"/>
          <p:cNvSpPr txBox="1"/>
          <p:nvPr/>
        </p:nvSpPr>
        <p:spPr>
          <a:xfrm>
            <a:off x="6355080" y="3813048"/>
            <a:ext cx="384048" cy="256032"/>
          </a:xfrm>
          <a:prstGeom prst="rect">
            <a:avLst/>
          </a:prstGeom>
          <a:noFill/>
        </p:spPr>
        <p:txBody>
          <a:bodyPr wrap="square" lIns="9144" rIns="9144" tIns="9144" bIns="9144">
            <a:spAutoFit/>
          </a:bodyPr>
          <a:lstStyle/>
          <a:p>
            <a:pPr>
              <a:spcAft>
                <a:spcPts val="500"/>
              </a:spcAft>
              <a:defRPr sz="1300" b="1">
                <a:solidFill>
                  <a:srgbClr val="007F7A"/>
                </a:solidFill>
                <a:latin typeface="Aptos"/>
              </a:defRPr>
            </a:pPr>
            <a:r>
              <a:t>01</a:t>
            </a:r>
          </a:p>
        </p:txBody>
      </p:sp>
      <p:sp>
        <p:nvSpPr>
          <p:cNvPr id="32" name="TextBox 31"/>
          <p:cNvSpPr txBox="1"/>
          <p:nvPr/>
        </p:nvSpPr>
        <p:spPr>
          <a:xfrm>
            <a:off x="6858000" y="3813048"/>
            <a:ext cx="4498848" cy="274320"/>
          </a:xfrm>
          <a:prstGeom prst="rect">
            <a:avLst/>
          </a:prstGeom>
          <a:noFill/>
        </p:spPr>
        <p:txBody>
          <a:bodyPr wrap="square" lIns="9144" rIns="9144" tIns="9144" bIns="9144">
            <a:spAutoFit/>
          </a:bodyPr>
          <a:lstStyle/>
          <a:p>
            <a:pPr>
              <a:spcAft>
                <a:spcPts val="500"/>
              </a:spcAft>
              <a:defRPr sz="1600" b="0">
                <a:solidFill>
                  <a:srgbClr val="183247"/>
                </a:solidFill>
                <a:latin typeface="Aptos"/>
              </a:defRPr>
            </a:pPr>
            <a:r>
              <a:t>Verify client/profile/CSV lineage</a:t>
            </a:r>
          </a:p>
        </p:txBody>
      </p:sp>
      <p:sp>
        <p:nvSpPr>
          <p:cNvPr id="33" name="TextBox 32"/>
          <p:cNvSpPr txBox="1"/>
          <p:nvPr/>
        </p:nvSpPr>
        <p:spPr>
          <a:xfrm>
            <a:off x="6355080" y="4206240"/>
            <a:ext cx="384048" cy="256032"/>
          </a:xfrm>
          <a:prstGeom prst="rect">
            <a:avLst/>
          </a:prstGeom>
          <a:noFill/>
        </p:spPr>
        <p:txBody>
          <a:bodyPr wrap="square" lIns="9144" rIns="9144" tIns="9144" bIns="9144">
            <a:spAutoFit/>
          </a:bodyPr>
          <a:lstStyle/>
          <a:p>
            <a:pPr>
              <a:spcAft>
                <a:spcPts val="500"/>
              </a:spcAft>
              <a:defRPr sz="1300" b="1">
                <a:solidFill>
                  <a:srgbClr val="007F7A"/>
                </a:solidFill>
                <a:latin typeface="Aptos"/>
              </a:defRPr>
            </a:pPr>
            <a:r>
              <a:t>02</a:t>
            </a:r>
          </a:p>
        </p:txBody>
      </p:sp>
      <p:sp>
        <p:nvSpPr>
          <p:cNvPr id="34" name="TextBox 33"/>
          <p:cNvSpPr txBox="1"/>
          <p:nvPr/>
        </p:nvSpPr>
        <p:spPr>
          <a:xfrm>
            <a:off x="6858000" y="4206240"/>
            <a:ext cx="4498848" cy="274320"/>
          </a:xfrm>
          <a:prstGeom prst="rect">
            <a:avLst/>
          </a:prstGeom>
          <a:noFill/>
        </p:spPr>
        <p:txBody>
          <a:bodyPr wrap="square" lIns="9144" rIns="9144" tIns="9144" bIns="9144">
            <a:spAutoFit/>
          </a:bodyPr>
          <a:lstStyle/>
          <a:p>
            <a:pPr>
              <a:spcAft>
                <a:spcPts val="500"/>
              </a:spcAft>
              <a:defRPr sz="1600" b="0">
                <a:solidFill>
                  <a:srgbClr val="183247"/>
                </a:solidFill>
                <a:latin typeface="Aptos"/>
              </a:defRPr>
            </a:pPr>
            <a:r>
              <a:t>Train sequentially from the same base</a:t>
            </a:r>
          </a:p>
        </p:txBody>
      </p:sp>
      <p:sp>
        <p:nvSpPr>
          <p:cNvPr id="35" name="TextBox 34"/>
          <p:cNvSpPr txBox="1"/>
          <p:nvPr/>
        </p:nvSpPr>
        <p:spPr>
          <a:xfrm>
            <a:off x="6355080" y="4599432"/>
            <a:ext cx="384048" cy="256032"/>
          </a:xfrm>
          <a:prstGeom prst="rect">
            <a:avLst/>
          </a:prstGeom>
          <a:noFill/>
        </p:spPr>
        <p:txBody>
          <a:bodyPr wrap="square" lIns="9144" rIns="9144" tIns="9144" bIns="9144">
            <a:spAutoFit/>
          </a:bodyPr>
          <a:lstStyle/>
          <a:p>
            <a:pPr>
              <a:spcAft>
                <a:spcPts val="500"/>
              </a:spcAft>
              <a:defRPr sz="1300" b="1">
                <a:solidFill>
                  <a:srgbClr val="007F7A"/>
                </a:solidFill>
                <a:latin typeface="Aptos"/>
              </a:defRPr>
            </a:pPr>
            <a:r>
              <a:t>03</a:t>
            </a:r>
          </a:p>
        </p:txBody>
      </p:sp>
      <p:sp>
        <p:nvSpPr>
          <p:cNvPr id="36" name="TextBox 35"/>
          <p:cNvSpPr txBox="1"/>
          <p:nvPr/>
        </p:nvSpPr>
        <p:spPr>
          <a:xfrm>
            <a:off x="6858000" y="4599432"/>
            <a:ext cx="4498848" cy="274320"/>
          </a:xfrm>
          <a:prstGeom prst="rect">
            <a:avLst/>
          </a:prstGeom>
          <a:noFill/>
        </p:spPr>
        <p:txBody>
          <a:bodyPr wrap="square" lIns="9144" rIns="9144" tIns="9144" bIns="9144">
            <a:spAutoFit/>
          </a:bodyPr>
          <a:lstStyle/>
          <a:p>
            <a:pPr>
              <a:spcAft>
                <a:spcPts val="500"/>
              </a:spcAft>
              <a:defRPr sz="1600" b="0">
                <a:solidFill>
                  <a:srgbClr val="183247"/>
                </a:solidFill>
                <a:latin typeface="Aptos"/>
              </a:defRPr>
            </a:pPr>
            <a:r>
              <a:t>Save best adapter + tokenizer + hashes</a:t>
            </a:r>
          </a:p>
        </p:txBody>
      </p:sp>
      <p:sp>
        <p:nvSpPr>
          <p:cNvPr id="37" name="TextBox 36"/>
          <p:cNvSpPr txBox="1"/>
          <p:nvPr/>
        </p:nvSpPr>
        <p:spPr>
          <a:xfrm>
            <a:off x="6355080" y="4992624"/>
            <a:ext cx="384048" cy="256032"/>
          </a:xfrm>
          <a:prstGeom prst="rect">
            <a:avLst/>
          </a:prstGeom>
          <a:noFill/>
        </p:spPr>
        <p:txBody>
          <a:bodyPr wrap="square" lIns="9144" rIns="9144" tIns="9144" bIns="9144">
            <a:spAutoFit/>
          </a:bodyPr>
          <a:lstStyle/>
          <a:p>
            <a:pPr>
              <a:spcAft>
                <a:spcPts val="500"/>
              </a:spcAft>
              <a:defRPr sz="1300" b="1">
                <a:solidFill>
                  <a:srgbClr val="007F7A"/>
                </a:solidFill>
                <a:latin typeface="Aptos"/>
              </a:defRPr>
            </a:pPr>
            <a:r>
              <a:t>04</a:t>
            </a:r>
          </a:p>
        </p:txBody>
      </p:sp>
      <p:sp>
        <p:nvSpPr>
          <p:cNvPr id="38" name="TextBox 37"/>
          <p:cNvSpPr txBox="1"/>
          <p:nvPr/>
        </p:nvSpPr>
        <p:spPr>
          <a:xfrm>
            <a:off x="6858000" y="4992624"/>
            <a:ext cx="4498848" cy="274320"/>
          </a:xfrm>
          <a:prstGeom prst="rect">
            <a:avLst/>
          </a:prstGeom>
          <a:noFill/>
        </p:spPr>
        <p:txBody>
          <a:bodyPr wrap="square" lIns="9144" rIns="9144" tIns="9144" bIns="9144">
            <a:spAutoFit/>
          </a:bodyPr>
          <a:lstStyle/>
          <a:p>
            <a:pPr>
              <a:spcAft>
                <a:spcPts val="500"/>
              </a:spcAft>
              <a:defRPr sz="1600" b="0">
                <a:solidFill>
                  <a:srgbClr val="183247"/>
                </a:solidFill>
                <a:latin typeface="Aptos"/>
              </a:defRPr>
            </a:pPr>
            <a:r>
              <a:t>Compare same-prompt base vs adapted</a:t>
            </a:r>
          </a:p>
        </p:txBody>
      </p:sp>
      <p:sp>
        <p:nvSpPr>
          <p:cNvPr id="39" name="Rounded Rectangle 38"/>
          <p:cNvSpPr/>
          <p:nvPr/>
        </p:nvSpPr>
        <p:spPr>
          <a:xfrm>
            <a:off x="502920" y="5806440"/>
            <a:ext cx="11155680" cy="347472"/>
          </a:xfrm>
          <a:prstGeom prst="roundRect">
            <a:avLst>
              <a:gd name="adj" fmla="val 12000"/>
            </a:avLst>
          </a:prstGeom>
          <a:solidFill>
            <a:srgbClr val="E3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04088" y="5852160"/>
            <a:ext cx="10753344" cy="246888"/>
          </a:xfrm>
          <a:prstGeom prst="rect">
            <a:avLst/>
          </a:prstGeom>
          <a:noFill/>
        </p:spPr>
        <p:txBody>
          <a:bodyPr wrap="square" lIns="9144" rIns="9144" tIns="9144" bIns="9144">
            <a:spAutoFit/>
          </a:bodyPr>
          <a:lstStyle/>
          <a:p>
            <a:pPr>
              <a:spcAft>
                <a:spcPts val="500"/>
              </a:spcAft>
              <a:defRPr sz="1300" b="0">
                <a:solidFill>
                  <a:srgbClr val="007F7A"/>
                </a:solidFill>
                <a:latin typeface="Aptos"/>
              </a:defRPr>
            </a:pPr>
            <a:r>
              <a:t>Earlier classification stage: Qwen 0.5B and Nemotron 8B; four adapters/base; 2 epochs; 512-token context.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3F6F8"/>
        </a:solidFill>
        <a:effectLst/>
      </p:bgPr>
    </p:bg>
    <p:spTree>
      <p:nvGrpSpPr>
        <p:cNvPr id="1" name=""/>
        <p:cNvGrpSpPr/>
        <p:nvPr/>
      </p:nvGrpSpPr>
      <p:grpSpPr/>
      <p:sp>
        <p:nvSpPr>
          <p:cNvPr id="2" name="TextBox 1"/>
          <p:cNvSpPr txBox="1"/>
          <p:nvPr/>
        </p:nvSpPr>
        <p:spPr>
          <a:xfrm>
            <a:off x="502920" y="228600"/>
            <a:ext cx="10789920" cy="246888"/>
          </a:xfrm>
          <a:prstGeom prst="rect">
            <a:avLst/>
          </a:prstGeom>
          <a:noFill/>
        </p:spPr>
        <p:txBody>
          <a:bodyPr wrap="square" lIns="9144" rIns="9144" tIns="9144" bIns="9144">
            <a:spAutoFit/>
          </a:bodyPr>
          <a:lstStyle/>
          <a:p>
            <a:pPr>
              <a:spcAft>
                <a:spcPts val="500"/>
              </a:spcAft>
              <a:defRPr sz="1100" b="1">
                <a:solidFill>
                  <a:srgbClr val="007F7A"/>
                </a:solidFill>
                <a:latin typeface="Aptos"/>
              </a:defRPr>
            </a:pPr>
            <a:r>
              <a:t>MULTI-LORA / LOCAL EXPERIMENT READOUT</a:t>
            </a:r>
          </a:p>
        </p:txBody>
      </p:sp>
      <p:sp>
        <p:nvSpPr>
          <p:cNvPr id="3" name="TextBox 2"/>
          <p:cNvSpPr txBox="1"/>
          <p:nvPr/>
        </p:nvSpPr>
        <p:spPr>
          <a:xfrm>
            <a:off x="502920" y="694944"/>
            <a:ext cx="11064240" cy="557784"/>
          </a:xfrm>
          <a:prstGeom prst="rect">
            <a:avLst/>
          </a:prstGeom>
          <a:noFill/>
        </p:spPr>
        <p:txBody>
          <a:bodyPr wrap="square" lIns="9144" rIns="9144" tIns="9144" bIns="9144">
            <a:spAutoFit/>
          </a:bodyPr>
          <a:lstStyle/>
          <a:p>
            <a:pPr>
              <a:spcAft>
                <a:spcPts val="500"/>
              </a:spcAft>
              <a:defRPr sz="3000" b="1">
                <a:solidFill>
                  <a:srgbClr val="10263C"/>
                </a:solidFill>
                <a:latin typeface="Aptos"/>
              </a:defRPr>
            </a:pPr>
            <a:r>
              <a:t>Validation gains; reply quality still provisional</a:t>
            </a:r>
          </a:p>
        </p:txBody>
      </p:sp>
      <p:sp>
        <p:nvSpPr>
          <p:cNvPr id="4" name="TextBox 3"/>
          <p:cNvSpPr txBox="1"/>
          <p:nvPr/>
        </p:nvSpPr>
        <p:spPr>
          <a:xfrm>
            <a:off x="502920" y="1307592"/>
            <a:ext cx="11064240" cy="493776"/>
          </a:xfrm>
          <a:prstGeom prst="rect">
            <a:avLst/>
          </a:prstGeom>
          <a:noFill/>
        </p:spPr>
        <p:txBody>
          <a:bodyPr wrap="square" lIns="9144" rIns="9144" tIns="9144" bIns="9144">
            <a:spAutoFit/>
          </a:bodyPr>
          <a:lstStyle/>
          <a:p>
            <a:pPr>
              <a:spcAft>
                <a:spcPts val="500"/>
              </a:spcAft>
              <a:defRPr sz="1700" b="0">
                <a:solidFill>
                  <a:srgbClr val="536C7D"/>
                </a:solidFill>
                <a:latin typeface="Aptos"/>
              </a:defRPr>
            </a:pPr>
            <a:r>
              <a:t>Do not combine classification F1 and reply-overlap F1: they measure different tasks</a:t>
            </a:r>
          </a:p>
        </p:txBody>
      </p:sp>
      <p:cxnSp>
        <p:nvCxnSpPr>
          <p:cNvPr id="5" name="Connector 4"/>
          <p:cNvCxnSpPr/>
          <p:nvPr/>
        </p:nvCxnSpPr>
        <p:spPr>
          <a:xfrm>
            <a:off x="502920" y="6391656"/>
            <a:ext cx="11155680" cy="0"/>
          </a:xfrm>
          <a:prstGeom prst="line">
            <a:avLst/>
          </a:prstGeom>
          <a:ln w="15240">
            <a:solidFill>
              <a:srgbClr val="CFD9D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492240"/>
            <a:ext cx="10698480" cy="182880"/>
          </a:xfrm>
          <a:prstGeom prst="rect">
            <a:avLst/>
          </a:prstGeom>
          <a:noFill/>
        </p:spPr>
        <p:txBody>
          <a:bodyPr wrap="square" lIns="9144" rIns="9144" tIns="9144" bIns="9144">
            <a:spAutoFit/>
          </a:bodyPr>
          <a:lstStyle/>
          <a:p>
            <a:pPr>
              <a:spcAft>
                <a:spcPts val="500"/>
              </a:spcAft>
              <a:defRPr sz="900" b="0">
                <a:solidFill>
                  <a:srgbClr val="536C7D"/>
                </a:solidFill>
                <a:latin typeface="Aptos"/>
              </a:defRPr>
            </a:pPr>
            <a:r>
              <a:t>Sources: classification evaluation/*.metrics.json; persona_pipeline/result.json; paired validation prediction IDs</a:t>
            </a:r>
          </a:p>
        </p:txBody>
      </p:sp>
      <p:sp>
        <p:nvSpPr>
          <p:cNvPr id="7" name="TextBox 6"/>
          <p:cNvSpPr txBox="1"/>
          <p:nvPr/>
        </p:nvSpPr>
        <p:spPr>
          <a:xfrm>
            <a:off x="11228832" y="6473952"/>
            <a:ext cx="457200" cy="228600"/>
          </a:xfrm>
          <a:prstGeom prst="rect">
            <a:avLst/>
          </a:prstGeom>
          <a:noFill/>
        </p:spPr>
        <p:txBody>
          <a:bodyPr wrap="square" lIns="9144" rIns="9144" tIns="9144" bIns="9144">
            <a:spAutoFit/>
          </a:bodyPr>
          <a:lstStyle/>
          <a:p>
            <a:pPr>
              <a:spcAft>
                <a:spcPts val="500"/>
              </a:spcAft>
              <a:defRPr sz="1100" b="1">
                <a:solidFill>
                  <a:srgbClr val="007F7A"/>
                </a:solidFill>
                <a:latin typeface="Aptos"/>
              </a:defRPr>
            </a:pPr>
            <a:r>
              <a:t>04</a:t>
            </a:r>
          </a:p>
        </p:txBody>
      </p:sp>
      <p:sp>
        <p:nvSpPr>
          <p:cNvPr id="8" name="Rounded Rectangle 7"/>
          <p:cNvSpPr/>
          <p:nvPr/>
        </p:nvSpPr>
        <p:spPr>
          <a:xfrm>
            <a:off x="502920" y="1947672"/>
            <a:ext cx="5404104" cy="36576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126480" y="1947672"/>
            <a:ext cx="5532120" cy="36576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2130552"/>
            <a:ext cx="5029200" cy="256032"/>
          </a:xfrm>
          <a:prstGeom prst="rect">
            <a:avLst/>
          </a:prstGeom>
          <a:noFill/>
        </p:spPr>
        <p:txBody>
          <a:bodyPr wrap="square" lIns="9144" rIns="9144" tIns="9144" bIns="9144">
            <a:spAutoFit/>
          </a:bodyPr>
          <a:lstStyle/>
          <a:p>
            <a:pPr>
              <a:spcAft>
                <a:spcPts val="500"/>
              </a:spcAft>
              <a:defRPr sz="1200" b="1">
                <a:solidFill>
                  <a:srgbClr val="007F7A"/>
                </a:solidFill>
                <a:latin typeface="Aptos"/>
              </a:defRPr>
            </a:pPr>
            <a:r>
              <a:t>CLASSIFICATION / 312 VALIDATION EMAILS</a:t>
            </a:r>
          </a:p>
        </p:txBody>
      </p:sp>
      <p:sp>
        <p:nvSpPr>
          <p:cNvPr id="11" name="TextBox 10"/>
          <p:cNvSpPr txBox="1"/>
          <p:nvPr/>
        </p:nvSpPr>
        <p:spPr>
          <a:xfrm>
            <a:off x="704088" y="2542032"/>
            <a:ext cx="2414016" cy="256032"/>
          </a:xfrm>
          <a:prstGeom prst="rect">
            <a:avLst/>
          </a:prstGeom>
          <a:noFill/>
        </p:spPr>
        <p:txBody>
          <a:bodyPr wrap="square" lIns="9144" rIns="9144" tIns="9144" bIns="9144">
            <a:spAutoFit/>
          </a:bodyPr>
          <a:lstStyle/>
          <a:p>
            <a:pPr>
              <a:spcAft>
                <a:spcPts val="500"/>
              </a:spcAft>
              <a:defRPr sz="1500" b="1">
                <a:solidFill>
                  <a:srgbClr val="183247"/>
                </a:solidFill>
                <a:latin typeface="Aptos"/>
              </a:defRPr>
            </a:pPr>
            <a:r>
              <a:t>Micro-F1</a:t>
            </a:r>
          </a:p>
        </p:txBody>
      </p:sp>
      <p:sp>
        <p:nvSpPr>
          <p:cNvPr id="12" name="TextBox 11"/>
          <p:cNvSpPr txBox="1"/>
          <p:nvPr/>
        </p:nvSpPr>
        <p:spPr>
          <a:xfrm>
            <a:off x="3090672" y="2542032"/>
            <a:ext cx="1115568" cy="256032"/>
          </a:xfrm>
          <a:prstGeom prst="rect">
            <a:avLst/>
          </a:prstGeom>
          <a:noFill/>
        </p:spPr>
        <p:txBody>
          <a:bodyPr wrap="square" lIns="9144" rIns="9144" tIns="9144" bIns="9144">
            <a:spAutoFit/>
          </a:bodyPr>
          <a:lstStyle/>
          <a:p>
            <a:pPr>
              <a:spcAft>
                <a:spcPts val="500"/>
              </a:spcAft>
              <a:defRPr sz="1300" b="1">
                <a:solidFill>
                  <a:srgbClr val="536C7D"/>
                </a:solidFill>
                <a:latin typeface="Aptos"/>
              </a:defRPr>
            </a:pPr>
            <a:r>
              <a:t>Qwen 0.5B</a:t>
            </a:r>
          </a:p>
        </p:txBody>
      </p:sp>
      <p:sp>
        <p:nvSpPr>
          <p:cNvPr id="13" name="TextBox 12"/>
          <p:cNvSpPr txBox="1"/>
          <p:nvPr/>
        </p:nvSpPr>
        <p:spPr>
          <a:xfrm>
            <a:off x="4398264" y="2542032"/>
            <a:ext cx="1280160" cy="256032"/>
          </a:xfrm>
          <a:prstGeom prst="rect">
            <a:avLst/>
          </a:prstGeom>
          <a:noFill/>
        </p:spPr>
        <p:txBody>
          <a:bodyPr wrap="square" lIns="9144" rIns="9144" tIns="9144" bIns="9144">
            <a:spAutoFit/>
          </a:bodyPr>
          <a:lstStyle/>
          <a:p>
            <a:pPr>
              <a:spcAft>
                <a:spcPts val="500"/>
              </a:spcAft>
              <a:defRPr sz="1300" b="1">
                <a:solidFill>
                  <a:srgbClr val="536C7D"/>
                </a:solidFill>
                <a:latin typeface="Aptos"/>
              </a:defRPr>
            </a:pPr>
            <a:r>
              <a:t>Nemotron 8B</a:t>
            </a:r>
          </a:p>
        </p:txBody>
      </p:sp>
      <p:sp>
        <p:nvSpPr>
          <p:cNvPr id="14" name="TextBox 13"/>
          <p:cNvSpPr txBox="1"/>
          <p:nvPr/>
        </p:nvSpPr>
        <p:spPr>
          <a:xfrm>
            <a:off x="758952" y="2935224"/>
            <a:ext cx="2148840" cy="274320"/>
          </a:xfrm>
          <a:prstGeom prst="rect">
            <a:avLst/>
          </a:prstGeom>
          <a:noFill/>
        </p:spPr>
        <p:txBody>
          <a:bodyPr wrap="square" lIns="9144" rIns="9144" tIns="9144" bIns="9144">
            <a:spAutoFit/>
          </a:bodyPr>
          <a:lstStyle/>
          <a:p>
            <a:pPr>
              <a:spcAft>
                <a:spcPts val="500"/>
              </a:spcAft>
              <a:defRPr sz="1600" b="0">
                <a:solidFill>
                  <a:srgbClr val="183247"/>
                </a:solidFill>
                <a:latin typeface="Aptos"/>
              </a:defRPr>
            </a:pPr>
            <a:r>
              <a:t>Base</a:t>
            </a:r>
          </a:p>
        </p:txBody>
      </p:sp>
      <p:sp>
        <p:nvSpPr>
          <p:cNvPr id="15" name="TextBox 14"/>
          <p:cNvSpPr txBox="1"/>
          <p:nvPr/>
        </p:nvSpPr>
        <p:spPr>
          <a:xfrm>
            <a:off x="3182112" y="2935224"/>
            <a:ext cx="960120" cy="274320"/>
          </a:xfrm>
          <a:prstGeom prst="rect">
            <a:avLst/>
          </a:prstGeom>
          <a:noFill/>
        </p:spPr>
        <p:txBody>
          <a:bodyPr wrap="square" lIns="9144" rIns="9144" tIns="9144" bIns="9144">
            <a:spAutoFit/>
          </a:bodyPr>
          <a:lstStyle/>
          <a:p>
            <a:pPr>
              <a:spcAft>
                <a:spcPts val="500"/>
              </a:spcAft>
              <a:defRPr sz="1700" b="0">
                <a:solidFill>
                  <a:srgbClr val="183247"/>
                </a:solidFill>
                <a:latin typeface="Aptos"/>
              </a:defRPr>
            </a:pPr>
            <a:r>
              <a:t>0.4517</a:t>
            </a:r>
          </a:p>
        </p:txBody>
      </p:sp>
      <p:sp>
        <p:nvSpPr>
          <p:cNvPr id="16" name="TextBox 15"/>
          <p:cNvSpPr txBox="1"/>
          <p:nvPr/>
        </p:nvSpPr>
        <p:spPr>
          <a:xfrm>
            <a:off x="4544568" y="2935224"/>
            <a:ext cx="960120" cy="274320"/>
          </a:xfrm>
          <a:prstGeom prst="rect">
            <a:avLst/>
          </a:prstGeom>
          <a:noFill/>
        </p:spPr>
        <p:txBody>
          <a:bodyPr wrap="square" lIns="9144" rIns="9144" tIns="9144" bIns="9144">
            <a:spAutoFit/>
          </a:bodyPr>
          <a:lstStyle/>
          <a:p>
            <a:pPr>
              <a:spcAft>
                <a:spcPts val="500"/>
              </a:spcAft>
              <a:defRPr sz="1700" b="0">
                <a:solidFill>
                  <a:srgbClr val="183247"/>
                </a:solidFill>
                <a:latin typeface="Aptos"/>
              </a:defRPr>
            </a:pPr>
            <a:r>
              <a:t>0.1340</a:t>
            </a:r>
          </a:p>
        </p:txBody>
      </p:sp>
      <p:sp>
        <p:nvSpPr>
          <p:cNvPr id="17" name="Rounded Rectangle 16"/>
          <p:cNvSpPr/>
          <p:nvPr/>
        </p:nvSpPr>
        <p:spPr>
          <a:xfrm>
            <a:off x="685800" y="3328416"/>
            <a:ext cx="5001768" cy="374904"/>
          </a:xfrm>
          <a:prstGeom prst="roundRect">
            <a:avLst>
              <a:gd name="adj" fmla="val 12000"/>
            </a:avLst>
          </a:prstGeom>
          <a:solidFill>
            <a:srgbClr val="E3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8952" y="3355848"/>
            <a:ext cx="2148840" cy="274320"/>
          </a:xfrm>
          <a:prstGeom prst="rect">
            <a:avLst/>
          </a:prstGeom>
          <a:noFill/>
        </p:spPr>
        <p:txBody>
          <a:bodyPr wrap="square" lIns="9144" rIns="9144" tIns="9144" bIns="9144">
            <a:spAutoFit/>
          </a:bodyPr>
          <a:lstStyle/>
          <a:p>
            <a:pPr>
              <a:spcAft>
                <a:spcPts val="500"/>
              </a:spcAft>
              <a:defRPr sz="1600" b="1">
                <a:solidFill>
                  <a:srgbClr val="183247"/>
                </a:solidFill>
                <a:latin typeface="Aptos"/>
              </a:defRPr>
            </a:pPr>
            <a:r>
              <a:t>Generalist</a:t>
            </a:r>
          </a:p>
        </p:txBody>
      </p:sp>
      <p:sp>
        <p:nvSpPr>
          <p:cNvPr id="19" name="TextBox 18"/>
          <p:cNvSpPr txBox="1"/>
          <p:nvPr/>
        </p:nvSpPr>
        <p:spPr>
          <a:xfrm>
            <a:off x="3182112" y="3355848"/>
            <a:ext cx="960120" cy="274320"/>
          </a:xfrm>
          <a:prstGeom prst="rect">
            <a:avLst/>
          </a:prstGeom>
          <a:noFill/>
        </p:spPr>
        <p:txBody>
          <a:bodyPr wrap="square" lIns="9144" rIns="9144" tIns="9144" bIns="9144">
            <a:spAutoFit/>
          </a:bodyPr>
          <a:lstStyle/>
          <a:p>
            <a:pPr>
              <a:spcAft>
                <a:spcPts val="500"/>
              </a:spcAft>
              <a:defRPr sz="1700" b="1">
                <a:solidFill>
                  <a:srgbClr val="007F7A"/>
                </a:solidFill>
                <a:latin typeface="Aptos"/>
              </a:defRPr>
            </a:pPr>
            <a:r>
              <a:t>0.8028</a:t>
            </a:r>
          </a:p>
        </p:txBody>
      </p:sp>
      <p:sp>
        <p:nvSpPr>
          <p:cNvPr id="20" name="TextBox 19"/>
          <p:cNvSpPr txBox="1"/>
          <p:nvPr/>
        </p:nvSpPr>
        <p:spPr>
          <a:xfrm>
            <a:off x="4544568" y="3355848"/>
            <a:ext cx="960120" cy="274320"/>
          </a:xfrm>
          <a:prstGeom prst="rect">
            <a:avLst/>
          </a:prstGeom>
          <a:noFill/>
        </p:spPr>
        <p:txBody>
          <a:bodyPr wrap="square" lIns="9144" rIns="9144" tIns="9144" bIns="9144">
            <a:spAutoFit/>
          </a:bodyPr>
          <a:lstStyle/>
          <a:p>
            <a:pPr>
              <a:spcAft>
                <a:spcPts val="500"/>
              </a:spcAft>
              <a:defRPr sz="1700" b="1">
                <a:solidFill>
                  <a:srgbClr val="007F7A"/>
                </a:solidFill>
                <a:latin typeface="Aptos"/>
              </a:defRPr>
            </a:pPr>
            <a:r>
              <a:t>0.8465</a:t>
            </a:r>
          </a:p>
        </p:txBody>
      </p:sp>
      <p:sp>
        <p:nvSpPr>
          <p:cNvPr id="21" name="TextBox 20"/>
          <p:cNvSpPr txBox="1"/>
          <p:nvPr/>
        </p:nvSpPr>
        <p:spPr>
          <a:xfrm>
            <a:off x="758952" y="3776472"/>
            <a:ext cx="2148840" cy="274320"/>
          </a:xfrm>
          <a:prstGeom prst="rect">
            <a:avLst/>
          </a:prstGeom>
          <a:noFill/>
        </p:spPr>
        <p:txBody>
          <a:bodyPr wrap="square" lIns="9144" rIns="9144" tIns="9144" bIns="9144">
            <a:spAutoFit/>
          </a:bodyPr>
          <a:lstStyle/>
          <a:p>
            <a:pPr>
              <a:spcAft>
                <a:spcPts val="500"/>
              </a:spcAft>
              <a:defRPr sz="1600" b="0">
                <a:solidFill>
                  <a:srgbClr val="183247"/>
                </a:solidFill>
                <a:latin typeface="Aptos"/>
              </a:defRPr>
            </a:pPr>
            <a:r>
              <a:t>All specialists</a:t>
            </a:r>
          </a:p>
        </p:txBody>
      </p:sp>
      <p:sp>
        <p:nvSpPr>
          <p:cNvPr id="22" name="TextBox 21"/>
          <p:cNvSpPr txBox="1"/>
          <p:nvPr/>
        </p:nvSpPr>
        <p:spPr>
          <a:xfrm>
            <a:off x="3182112" y="3776472"/>
            <a:ext cx="960120" cy="274320"/>
          </a:xfrm>
          <a:prstGeom prst="rect">
            <a:avLst/>
          </a:prstGeom>
          <a:noFill/>
        </p:spPr>
        <p:txBody>
          <a:bodyPr wrap="square" lIns="9144" rIns="9144" tIns="9144" bIns="9144">
            <a:spAutoFit/>
          </a:bodyPr>
          <a:lstStyle/>
          <a:p>
            <a:pPr>
              <a:spcAft>
                <a:spcPts val="500"/>
              </a:spcAft>
              <a:defRPr sz="1700" b="0">
                <a:solidFill>
                  <a:srgbClr val="183247"/>
                </a:solidFill>
                <a:latin typeface="Aptos"/>
              </a:defRPr>
            </a:pPr>
            <a:r>
              <a:t>0.8020</a:t>
            </a:r>
          </a:p>
        </p:txBody>
      </p:sp>
      <p:sp>
        <p:nvSpPr>
          <p:cNvPr id="23" name="TextBox 22"/>
          <p:cNvSpPr txBox="1"/>
          <p:nvPr/>
        </p:nvSpPr>
        <p:spPr>
          <a:xfrm>
            <a:off x="4544568" y="3776472"/>
            <a:ext cx="960120" cy="274320"/>
          </a:xfrm>
          <a:prstGeom prst="rect">
            <a:avLst/>
          </a:prstGeom>
          <a:noFill/>
        </p:spPr>
        <p:txBody>
          <a:bodyPr wrap="square" lIns="9144" rIns="9144" tIns="9144" bIns="9144">
            <a:spAutoFit/>
          </a:bodyPr>
          <a:lstStyle/>
          <a:p>
            <a:pPr>
              <a:spcAft>
                <a:spcPts val="500"/>
              </a:spcAft>
              <a:defRPr sz="1700" b="0">
                <a:solidFill>
                  <a:srgbClr val="183247"/>
                </a:solidFill>
                <a:latin typeface="Aptos"/>
              </a:defRPr>
            </a:pPr>
            <a:r>
              <a:t>0.8142</a:t>
            </a:r>
          </a:p>
        </p:txBody>
      </p:sp>
      <p:sp>
        <p:nvSpPr>
          <p:cNvPr id="24" name="TextBox 23"/>
          <p:cNvSpPr txBox="1"/>
          <p:nvPr/>
        </p:nvSpPr>
        <p:spPr>
          <a:xfrm>
            <a:off x="758952" y="4197096"/>
            <a:ext cx="2148840" cy="274320"/>
          </a:xfrm>
          <a:prstGeom prst="rect">
            <a:avLst/>
          </a:prstGeom>
          <a:noFill/>
        </p:spPr>
        <p:txBody>
          <a:bodyPr wrap="square" lIns="9144" rIns="9144" tIns="9144" bIns="9144">
            <a:spAutoFit/>
          </a:bodyPr>
          <a:lstStyle/>
          <a:p>
            <a:pPr>
              <a:spcAft>
                <a:spcPts val="500"/>
              </a:spcAft>
              <a:defRPr sz="1600" b="0">
                <a:solidFill>
                  <a:srgbClr val="183247"/>
                </a:solidFill>
                <a:latin typeface="Aptos"/>
              </a:defRPr>
            </a:pPr>
            <a:r>
              <a:t>Routed</a:t>
            </a:r>
          </a:p>
        </p:txBody>
      </p:sp>
      <p:sp>
        <p:nvSpPr>
          <p:cNvPr id="25" name="TextBox 24"/>
          <p:cNvSpPr txBox="1"/>
          <p:nvPr/>
        </p:nvSpPr>
        <p:spPr>
          <a:xfrm>
            <a:off x="3182112" y="4197096"/>
            <a:ext cx="960120" cy="274320"/>
          </a:xfrm>
          <a:prstGeom prst="rect">
            <a:avLst/>
          </a:prstGeom>
          <a:noFill/>
        </p:spPr>
        <p:txBody>
          <a:bodyPr wrap="square" lIns="9144" rIns="9144" tIns="9144" bIns="9144">
            <a:spAutoFit/>
          </a:bodyPr>
          <a:lstStyle/>
          <a:p>
            <a:pPr>
              <a:spcAft>
                <a:spcPts val="500"/>
              </a:spcAft>
              <a:defRPr sz="1700" b="0">
                <a:solidFill>
                  <a:srgbClr val="183247"/>
                </a:solidFill>
                <a:latin typeface="Aptos"/>
              </a:defRPr>
            </a:pPr>
            <a:r>
              <a:t>0.8004</a:t>
            </a:r>
          </a:p>
        </p:txBody>
      </p:sp>
      <p:sp>
        <p:nvSpPr>
          <p:cNvPr id="26" name="TextBox 25"/>
          <p:cNvSpPr txBox="1"/>
          <p:nvPr/>
        </p:nvSpPr>
        <p:spPr>
          <a:xfrm>
            <a:off x="4544568" y="4197096"/>
            <a:ext cx="960120" cy="274320"/>
          </a:xfrm>
          <a:prstGeom prst="rect">
            <a:avLst/>
          </a:prstGeom>
          <a:noFill/>
        </p:spPr>
        <p:txBody>
          <a:bodyPr wrap="square" lIns="9144" rIns="9144" tIns="9144" bIns="9144">
            <a:spAutoFit/>
          </a:bodyPr>
          <a:lstStyle/>
          <a:p>
            <a:pPr>
              <a:spcAft>
                <a:spcPts val="500"/>
              </a:spcAft>
              <a:defRPr sz="1700" b="0">
                <a:solidFill>
                  <a:srgbClr val="183247"/>
                </a:solidFill>
                <a:latin typeface="Aptos"/>
              </a:defRPr>
            </a:pPr>
            <a:r>
              <a:t>0.8020</a:t>
            </a:r>
          </a:p>
        </p:txBody>
      </p:sp>
      <p:sp>
        <p:nvSpPr>
          <p:cNvPr id="27" name="TextBox 26"/>
          <p:cNvSpPr txBox="1"/>
          <p:nvPr/>
        </p:nvSpPr>
        <p:spPr>
          <a:xfrm>
            <a:off x="740664" y="4764024"/>
            <a:ext cx="4901184" cy="557784"/>
          </a:xfrm>
          <a:prstGeom prst="rect">
            <a:avLst/>
          </a:prstGeom>
          <a:noFill/>
        </p:spPr>
        <p:txBody>
          <a:bodyPr wrap="square" lIns="9144" rIns="9144" tIns="9144" bIns="9144">
            <a:spAutoFit/>
          </a:bodyPr>
          <a:lstStyle/>
          <a:p>
            <a:pPr>
              <a:spcAft>
                <a:spcPts val="500"/>
              </a:spcAft>
              <a:defRPr sz="1600" b="1">
                <a:solidFill>
                  <a:srgbClr val="183247"/>
                </a:solidFill>
                <a:latin typeface="Aptos"/>
              </a:defRPr>
            </a:pPr>
            <a:r>
              <a:t>Generalist leads micro-F1 on both bases.</a:t>
            </a:r>
          </a:p>
          <a:p>
            <a:pPr>
              <a:spcAft>
                <a:spcPts val="500"/>
              </a:spcAft>
              <a:defRPr sz="1600" b="1">
                <a:solidFill>
                  <a:srgbClr val="183247"/>
                </a:solidFill>
                <a:latin typeface="Aptos"/>
              </a:defRPr>
            </a:pPr>
            <a:r>
              <a:t>Routing saves calls, not a proven quality win.</a:t>
            </a:r>
          </a:p>
        </p:txBody>
      </p:sp>
      <p:sp>
        <p:nvSpPr>
          <p:cNvPr id="28" name="TextBox 27"/>
          <p:cNvSpPr txBox="1"/>
          <p:nvPr/>
        </p:nvSpPr>
        <p:spPr>
          <a:xfrm>
            <a:off x="6327648" y="2130552"/>
            <a:ext cx="5029200" cy="256032"/>
          </a:xfrm>
          <a:prstGeom prst="rect">
            <a:avLst/>
          </a:prstGeom>
          <a:noFill/>
        </p:spPr>
        <p:txBody>
          <a:bodyPr wrap="square" lIns="9144" rIns="9144" tIns="9144" bIns="9144">
            <a:spAutoFit/>
          </a:bodyPr>
          <a:lstStyle/>
          <a:p>
            <a:pPr>
              <a:spcAft>
                <a:spcPts val="500"/>
              </a:spcAft>
              <a:defRPr sz="1200" b="1">
                <a:solidFill>
                  <a:srgbClr val="007F7A"/>
                </a:solidFill>
                <a:latin typeface="Aptos"/>
              </a:defRPr>
            </a:pPr>
            <a:r>
              <a:t>REPLIES / 8 EMAILS x 10 PERSONAS</a:t>
            </a:r>
          </a:p>
        </p:txBody>
      </p:sp>
      <p:sp>
        <p:nvSpPr>
          <p:cNvPr id="29" name="TextBox 28"/>
          <p:cNvSpPr txBox="1"/>
          <p:nvPr/>
        </p:nvSpPr>
        <p:spPr>
          <a:xfrm>
            <a:off x="6327648" y="2542032"/>
            <a:ext cx="4956048" cy="292608"/>
          </a:xfrm>
          <a:prstGeom prst="rect">
            <a:avLst/>
          </a:prstGeom>
          <a:noFill/>
        </p:spPr>
        <p:txBody>
          <a:bodyPr wrap="square" lIns="9144" rIns="9144" tIns="9144" bIns="9144">
            <a:spAutoFit/>
          </a:bodyPr>
          <a:lstStyle/>
          <a:p>
            <a:pPr>
              <a:spcAft>
                <a:spcPts val="500"/>
              </a:spcAft>
              <a:defRPr sz="1500" b="0">
                <a:solidFill>
                  <a:srgbClr val="536C7D"/>
                </a:solidFill>
                <a:latin typeface="Aptos"/>
              </a:defRPr>
            </a:pPr>
            <a:r>
              <a:t>Equal-weight mean across personas</a:t>
            </a:r>
          </a:p>
        </p:txBody>
      </p:sp>
      <p:sp>
        <p:nvSpPr>
          <p:cNvPr id="30" name="TextBox 29"/>
          <p:cNvSpPr txBox="1"/>
          <p:nvPr/>
        </p:nvSpPr>
        <p:spPr>
          <a:xfrm>
            <a:off x="6364224" y="2971800"/>
            <a:ext cx="1261872" cy="256032"/>
          </a:xfrm>
          <a:prstGeom prst="rect">
            <a:avLst/>
          </a:prstGeom>
          <a:noFill/>
        </p:spPr>
        <p:txBody>
          <a:bodyPr wrap="square" lIns="9144" rIns="9144" tIns="9144" bIns="9144">
            <a:spAutoFit/>
          </a:bodyPr>
          <a:lstStyle/>
          <a:p>
            <a:pPr>
              <a:spcAft>
                <a:spcPts val="500"/>
              </a:spcAft>
              <a:defRPr sz="1500" b="1">
                <a:solidFill>
                  <a:srgbClr val="183247"/>
                </a:solidFill>
                <a:latin typeface="Aptos"/>
              </a:defRPr>
            </a:pPr>
            <a:r>
              <a:t>Token F1</a:t>
            </a:r>
          </a:p>
        </p:txBody>
      </p:sp>
      <p:sp>
        <p:nvSpPr>
          <p:cNvPr id="31" name="TextBox 30"/>
          <p:cNvSpPr txBox="1"/>
          <p:nvPr/>
        </p:nvSpPr>
        <p:spPr>
          <a:xfrm>
            <a:off x="7799831" y="2971800"/>
            <a:ext cx="1234440" cy="338328"/>
          </a:xfrm>
          <a:prstGeom prst="rect">
            <a:avLst/>
          </a:prstGeom>
          <a:noFill/>
        </p:spPr>
        <p:txBody>
          <a:bodyPr wrap="square" lIns="9144" rIns="9144" tIns="9144" bIns="9144">
            <a:spAutoFit/>
          </a:bodyPr>
          <a:lstStyle/>
          <a:p>
            <a:pPr>
              <a:spcAft>
                <a:spcPts val="500"/>
              </a:spcAft>
              <a:defRPr sz="1900" b="0">
                <a:solidFill>
                  <a:srgbClr val="536C7D"/>
                </a:solidFill>
                <a:latin typeface="Aptos"/>
              </a:defRPr>
            </a:pPr>
            <a:r>
              <a:t>0.1916</a:t>
            </a:r>
          </a:p>
        </p:txBody>
      </p:sp>
      <p:sp>
        <p:nvSpPr>
          <p:cNvPr id="32" name="TextBox 31"/>
          <p:cNvSpPr txBox="1"/>
          <p:nvPr/>
        </p:nvSpPr>
        <p:spPr>
          <a:xfrm>
            <a:off x="9125712" y="2971800"/>
            <a:ext cx="429768" cy="265176"/>
          </a:xfrm>
          <a:prstGeom prst="rect">
            <a:avLst/>
          </a:prstGeom>
          <a:noFill/>
        </p:spPr>
        <p:txBody>
          <a:bodyPr wrap="square" lIns="9144" rIns="9144" tIns="9144" bIns="9144">
            <a:spAutoFit/>
          </a:bodyPr>
          <a:lstStyle/>
          <a:p>
            <a:pPr>
              <a:spcAft>
                <a:spcPts val="500"/>
              </a:spcAft>
              <a:defRPr sz="1400" b="0">
                <a:solidFill>
                  <a:srgbClr val="536C7D"/>
                </a:solidFill>
                <a:latin typeface="Aptos"/>
              </a:defRPr>
            </a:pPr>
            <a:r>
              <a:t>to</a:t>
            </a:r>
          </a:p>
        </p:txBody>
      </p:sp>
      <p:sp>
        <p:nvSpPr>
          <p:cNvPr id="33" name="TextBox 32"/>
          <p:cNvSpPr txBox="1"/>
          <p:nvPr/>
        </p:nvSpPr>
        <p:spPr>
          <a:xfrm>
            <a:off x="9637776" y="2971800"/>
            <a:ext cx="1353312" cy="338328"/>
          </a:xfrm>
          <a:prstGeom prst="rect">
            <a:avLst/>
          </a:prstGeom>
          <a:noFill/>
        </p:spPr>
        <p:txBody>
          <a:bodyPr wrap="square" lIns="9144" rIns="9144" tIns="9144" bIns="9144">
            <a:spAutoFit/>
          </a:bodyPr>
          <a:lstStyle/>
          <a:p>
            <a:pPr>
              <a:spcAft>
                <a:spcPts val="500"/>
              </a:spcAft>
              <a:defRPr sz="1900" b="1">
                <a:solidFill>
                  <a:srgbClr val="007F7A"/>
                </a:solidFill>
                <a:latin typeface="Aptos"/>
              </a:defRPr>
            </a:pPr>
            <a:r>
              <a:t>0.3352</a:t>
            </a:r>
          </a:p>
        </p:txBody>
      </p:sp>
      <p:sp>
        <p:nvSpPr>
          <p:cNvPr id="34" name="Rectangle 33"/>
          <p:cNvSpPr/>
          <p:nvPr/>
        </p:nvSpPr>
        <p:spPr>
          <a:xfrm>
            <a:off x="7799831" y="3328416"/>
            <a:ext cx="1121139" cy="82296"/>
          </a:xfrm>
          <a:prstGeom prst="rect">
            <a:avLst/>
          </a:prstGeom>
          <a:solidFill>
            <a:srgbClr val="CFD9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799831" y="3456432"/>
            <a:ext cx="1961680" cy="82296"/>
          </a:xfrm>
          <a:prstGeom prst="rect">
            <a:avLst/>
          </a:prstGeom>
          <a:solidFill>
            <a:srgbClr val="007F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64224" y="3803904"/>
            <a:ext cx="1261872" cy="256032"/>
          </a:xfrm>
          <a:prstGeom prst="rect">
            <a:avLst/>
          </a:prstGeom>
          <a:noFill/>
        </p:spPr>
        <p:txBody>
          <a:bodyPr wrap="square" lIns="9144" rIns="9144" tIns="9144" bIns="9144">
            <a:spAutoFit/>
          </a:bodyPr>
          <a:lstStyle/>
          <a:p>
            <a:pPr>
              <a:spcAft>
                <a:spcPts val="500"/>
              </a:spcAft>
              <a:defRPr sz="1500" b="1">
                <a:solidFill>
                  <a:srgbClr val="183247"/>
                </a:solidFill>
                <a:latin typeface="Aptos"/>
              </a:defRPr>
            </a:pPr>
            <a:r>
              <a:t>ROUGE-L</a:t>
            </a:r>
          </a:p>
        </p:txBody>
      </p:sp>
      <p:sp>
        <p:nvSpPr>
          <p:cNvPr id="37" name="TextBox 36"/>
          <p:cNvSpPr txBox="1"/>
          <p:nvPr/>
        </p:nvSpPr>
        <p:spPr>
          <a:xfrm>
            <a:off x="7799831" y="3803904"/>
            <a:ext cx="1234440" cy="338328"/>
          </a:xfrm>
          <a:prstGeom prst="rect">
            <a:avLst/>
          </a:prstGeom>
          <a:noFill/>
        </p:spPr>
        <p:txBody>
          <a:bodyPr wrap="square" lIns="9144" rIns="9144" tIns="9144" bIns="9144">
            <a:spAutoFit/>
          </a:bodyPr>
          <a:lstStyle/>
          <a:p>
            <a:pPr>
              <a:spcAft>
                <a:spcPts val="500"/>
              </a:spcAft>
              <a:defRPr sz="1900" b="0">
                <a:solidFill>
                  <a:srgbClr val="536C7D"/>
                </a:solidFill>
                <a:latin typeface="Aptos"/>
              </a:defRPr>
            </a:pPr>
            <a:r>
              <a:t>0.1430</a:t>
            </a:r>
          </a:p>
        </p:txBody>
      </p:sp>
      <p:sp>
        <p:nvSpPr>
          <p:cNvPr id="38" name="TextBox 37"/>
          <p:cNvSpPr txBox="1"/>
          <p:nvPr/>
        </p:nvSpPr>
        <p:spPr>
          <a:xfrm>
            <a:off x="9125712" y="3803904"/>
            <a:ext cx="429768" cy="265176"/>
          </a:xfrm>
          <a:prstGeom prst="rect">
            <a:avLst/>
          </a:prstGeom>
          <a:noFill/>
        </p:spPr>
        <p:txBody>
          <a:bodyPr wrap="square" lIns="9144" rIns="9144" tIns="9144" bIns="9144">
            <a:spAutoFit/>
          </a:bodyPr>
          <a:lstStyle/>
          <a:p>
            <a:pPr>
              <a:spcAft>
                <a:spcPts val="500"/>
              </a:spcAft>
              <a:defRPr sz="1400" b="0">
                <a:solidFill>
                  <a:srgbClr val="536C7D"/>
                </a:solidFill>
                <a:latin typeface="Aptos"/>
              </a:defRPr>
            </a:pPr>
            <a:r>
              <a:t>to</a:t>
            </a:r>
          </a:p>
        </p:txBody>
      </p:sp>
      <p:sp>
        <p:nvSpPr>
          <p:cNvPr id="39" name="TextBox 38"/>
          <p:cNvSpPr txBox="1"/>
          <p:nvPr/>
        </p:nvSpPr>
        <p:spPr>
          <a:xfrm>
            <a:off x="9637776" y="3803904"/>
            <a:ext cx="1353312" cy="338328"/>
          </a:xfrm>
          <a:prstGeom prst="rect">
            <a:avLst/>
          </a:prstGeom>
          <a:noFill/>
        </p:spPr>
        <p:txBody>
          <a:bodyPr wrap="square" lIns="9144" rIns="9144" tIns="9144" bIns="9144">
            <a:spAutoFit/>
          </a:bodyPr>
          <a:lstStyle/>
          <a:p>
            <a:pPr>
              <a:spcAft>
                <a:spcPts val="500"/>
              </a:spcAft>
              <a:defRPr sz="1900" b="1">
                <a:solidFill>
                  <a:srgbClr val="007F7A"/>
                </a:solidFill>
                <a:latin typeface="Aptos"/>
              </a:defRPr>
            </a:pPr>
            <a:r>
              <a:t>0.2767</a:t>
            </a:r>
          </a:p>
        </p:txBody>
      </p:sp>
      <p:sp>
        <p:nvSpPr>
          <p:cNvPr id="40" name="Rectangle 39"/>
          <p:cNvSpPr/>
          <p:nvPr/>
        </p:nvSpPr>
        <p:spPr>
          <a:xfrm>
            <a:off x="7799831" y="4160520"/>
            <a:ext cx="836990" cy="82296"/>
          </a:xfrm>
          <a:prstGeom prst="rect">
            <a:avLst/>
          </a:prstGeom>
          <a:solidFill>
            <a:srgbClr val="CFD9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799831" y="4288536"/>
            <a:ext cx="1619141" cy="82296"/>
          </a:xfrm>
          <a:prstGeom prst="rect">
            <a:avLst/>
          </a:prstGeom>
          <a:solidFill>
            <a:srgbClr val="007F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364224" y="4764024"/>
            <a:ext cx="4928616" cy="585216"/>
          </a:xfrm>
          <a:prstGeom prst="rect">
            <a:avLst/>
          </a:prstGeom>
          <a:noFill/>
        </p:spPr>
        <p:txBody>
          <a:bodyPr wrap="square" lIns="9144" rIns="9144" tIns="9144" bIns="9144">
            <a:spAutoFit/>
          </a:bodyPr>
          <a:lstStyle/>
          <a:p>
            <a:pPr>
              <a:spcAft>
                <a:spcPts val="500"/>
              </a:spcAft>
              <a:defRPr sz="1600" b="1">
                <a:solidFill>
                  <a:srgbClr val="183247"/>
                </a:solidFill>
                <a:latin typeface="Aptos"/>
              </a:defRPr>
            </a:pPr>
            <a:r>
              <a:t>10/10 improve lexical overlap.</a:t>
            </a:r>
          </a:p>
          <a:p>
            <a:pPr>
              <a:spcAft>
                <a:spcPts val="500"/>
              </a:spcAft>
              <a:defRPr sz="1600" b="1">
                <a:solidFill>
                  <a:srgbClr val="183247"/>
                </a:solidFill>
                <a:latin typeface="Aptos"/>
              </a:defRPr>
            </a:pPr>
            <a:r>
              <a:t>Only 8 unique emails; no human-quality proof.</a:t>
            </a:r>
          </a:p>
        </p:txBody>
      </p:sp>
      <p:sp>
        <p:nvSpPr>
          <p:cNvPr id="43" name="Rounded Rectangle 42"/>
          <p:cNvSpPr/>
          <p:nvPr/>
        </p:nvSpPr>
        <p:spPr>
          <a:xfrm>
            <a:off x="502920" y="5779008"/>
            <a:ext cx="11155680" cy="402336"/>
          </a:xfrm>
          <a:prstGeom prst="roundRect">
            <a:avLst>
              <a:gd name="adj" fmla="val 12000"/>
            </a:avLst>
          </a:prstGeom>
          <a:solidFill>
            <a:srgbClr val="FBEC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04088" y="5852160"/>
            <a:ext cx="10753344" cy="256032"/>
          </a:xfrm>
          <a:prstGeom prst="rect">
            <a:avLst/>
          </a:prstGeom>
          <a:noFill/>
        </p:spPr>
        <p:txBody>
          <a:bodyPr wrap="square" lIns="9144" rIns="9144" tIns="9144" bIns="9144">
            <a:spAutoFit/>
          </a:bodyPr>
          <a:lstStyle/>
          <a:p>
            <a:pPr>
              <a:spcAft>
                <a:spcPts val="500"/>
              </a:spcAft>
              <a:defRPr sz="1400" b="1">
                <a:solidFill>
                  <a:srgbClr val="80501C"/>
                </a:solidFill>
                <a:latin typeface="Aptos"/>
              </a:defRPr>
            </a:pPr>
            <a:r>
              <a:t>NOT YET DONE  Full persona generation validation, blinded human review, robustness testing, or final test.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F6F8"/>
        </a:solidFill>
        <a:effectLst/>
      </p:bgPr>
    </p:bg>
    <p:spTree>
      <p:nvGrpSpPr>
        <p:cNvPr id="1" name=""/>
        <p:cNvGrpSpPr/>
        <p:nvPr/>
      </p:nvGrpSpPr>
      <p:grpSpPr/>
      <p:sp>
        <p:nvSpPr>
          <p:cNvPr id="2" name="TextBox 1"/>
          <p:cNvSpPr txBox="1"/>
          <p:nvPr/>
        </p:nvSpPr>
        <p:spPr>
          <a:xfrm>
            <a:off x="502920" y="228600"/>
            <a:ext cx="10789920" cy="246888"/>
          </a:xfrm>
          <a:prstGeom prst="rect">
            <a:avLst/>
          </a:prstGeom>
          <a:noFill/>
        </p:spPr>
        <p:txBody>
          <a:bodyPr wrap="square" lIns="9144" rIns="9144" tIns="9144" bIns="9144">
            <a:spAutoFit/>
          </a:bodyPr>
          <a:lstStyle/>
          <a:p>
            <a:pPr>
              <a:spcAft>
                <a:spcPts val="500"/>
              </a:spcAft>
              <a:defRPr sz="1100" b="1">
                <a:solidFill>
                  <a:srgbClr val="007F7A"/>
                </a:solidFill>
                <a:latin typeface="Aptos"/>
              </a:defRPr>
            </a:pPr>
            <a:r>
              <a:t>MULTI-LORA / LOCAL EXPERIMENT READOUT</a:t>
            </a:r>
          </a:p>
        </p:txBody>
      </p:sp>
      <p:sp>
        <p:nvSpPr>
          <p:cNvPr id="3" name="TextBox 2"/>
          <p:cNvSpPr txBox="1"/>
          <p:nvPr/>
        </p:nvSpPr>
        <p:spPr>
          <a:xfrm>
            <a:off x="502920" y="694944"/>
            <a:ext cx="11064240" cy="557784"/>
          </a:xfrm>
          <a:prstGeom prst="rect">
            <a:avLst/>
          </a:prstGeom>
          <a:noFill/>
        </p:spPr>
        <p:txBody>
          <a:bodyPr wrap="square" lIns="9144" rIns="9144" tIns="9144" bIns="9144">
            <a:spAutoFit/>
          </a:bodyPr>
          <a:lstStyle/>
          <a:p>
            <a:pPr>
              <a:spcAft>
                <a:spcPts val="500"/>
              </a:spcAft>
              <a:defRPr sz="3000" b="1">
                <a:solidFill>
                  <a:srgbClr val="10263C"/>
                </a:solidFill>
                <a:latin typeface="Aptos"/>
              </a:defRPr>
            </a:pPr>
            <a:r>
              <a:t>Prove quality before scaling</a:t>
            </a:r>
          </a:p>
        </p:txBody>
      </p:sp>
      <p:sp>
        <p:nvSpPr>
          <p:cNvPr id="4" name="TextBox 3"/>
          <p:cNvSpPr txBox="1"/>
          <p:nvPr/>
        </p:nvSpPr>
        <p:spPr>
          <a:xfrm>
            <a:off x="502920" y="1307592"/>
            <a:ext cx="11064240" cy="493776"/>
          </a:xfrm>
          <a:prstGeom prst="rect">
            <a:avLst/>
          </a:prstGeom>
          <a:noFill/>
        </p:spPr>
        <p:txBody>
          <a:bodyPr wrap="square" lIns="9144" rIns="9144" tIns="9144" bIns="9144">
            <a:spAutoFit/>
          </a:bodyPr>
          <a:lstStyle/>
          <a:p>
            <a:pPr>
              <a:spcAft>
                <a:spcPts val="500"/>
              </a:spcAft>
              <a:defRPr sz="1700" b="0">
                <a:solidFill>
                  <a:srgbClr val="536C7D"/>
                </a:solidFill>
                <a:latin typeface="Aptos"/>
              </a:defRPr>
            </a:pPr>
            <a:r>
              <a:t>Local feasibility is established. Useful, grounded, persona-faithful replies are the next gate.</a:t>
            </a:r>
          </a:p>
        </p:txBody>
      </p:sp>
      <p:cxnSp>
        <p:nvCxnSpPr>
          <p:cNvPr id="5" name="Connector 4"/>
          <p:cNvCxnSpPr/>
          <p:nvPr/>
        </p:nvCxnSpPr>
        <p:spPr>
          <a:xfrm>
            <a:off x="502920" y="6391656"/>
            <a:ext cx="11155680" cy="0"/>
          </a:xfrm>
          <a:prstGeom prst="line">
            <a:avLst/>
          </a:prstGeom>
          <a:ln w="15240">
            <a:solidFill>
              <a:srgbClr val="CFD9D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492240"/>
            <a:ext cx="10698480" cy="182880"/>
          </a:xfrm>
          <a:prstGeom prst="rect">
            <a:avLst/>
          </a:prstGeom>
          <a:noFill/>
        </p:spPr>
        <p:txBody>
          <a:bodyPr wrap="square" lIns="9144" rIns="9144" tIns="9144" bIns="9144">
            <a:spAutoFit/>
          </a:bodyPr>
          <a:lstStyle/>
          <a:p>
            <a:pPr>
              <a:spcAft>
                <a:spcPts val="500"/>
              </a:spcAft>
              <a:defRPr sz="900" b="0">
                <a:solidFill>
                  <a:srgbClr val="536C7D"/>
                </a:solidFill>
                <a:latin typeface="Aptos"/>
              </a:defRPr>
            </a:pPr>
            <a:r>
              <a:t>Next experiments, not completed results  |  Detailed protocol: notebook 07 + PERSONA_EVALUATION_PLAN.md</a:t>
            </a:r>
          </a:p>
        </p:txBody>
      </p:sp>
      <p:sp>
        <p:nvSpPr>
          <p:cNvPr id="7" name="TextBox 6"/>
          <p:cNvSpPr txBox="1"/>
          <p:nvPr/>
        </p:nvSpPr>
        <p:spPr>
          <a:xfrm>
            <a:off x="11228832" y="6473952"/>
            <a:ext cx="457200" cy="228600"/>
          </a:xfrm>
          <a:prstGeom prst="rect">
            <a:avLst/>
          </a:prstGeom>
          <a:noFill/>
        </p:spPr>
        <p:txBody>
          <a:bodyPr wrap="square" lIns="9144" rIns="9144" tIns="9144" bIns="9144">
            <a:spAutoFit/>
          </a:bodyPr>
          <a:lstStyle/>
          <a:p>
            <a:pPr>
              <a:spcAft>
                <a:spcPts val="500"/>
              </a:spcAft>
              <a:defRPr sz="1100" b="1">
                <a:solidFill>
                  <a:srgbClr val="007F7A"/>
                </a:solidFill>
                <a:latin typeface="Aptos"/>
              </a:defRPr>
            </a:pPr>
            <a:r>
              <a:t>05</a:t>
            </a:r>
          </a:p>
        </p:txBody>
      </p:sp>
      <p:sp>
        <p:nvSpPr>
          <p:cNvPr id="8" name="Rounded Rectangle 7"/>
          <p:cNvSpPr/>
          <p:nvPr/>
        </p:nvSpPr>
        <p:spPr>
          <a:xfrm>
            <a:off x="502920" y="1947672"/>
            <a:ext cx="11155680" cy="713232"/>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58368" y="2075688"/>
            <a:ext cx="438912" cy="438912"/>
          </a:xfrm>
          <a:prstGeom prst="roundRect">
            <a:avLst>
              <a:gd name="adj" fmla="val 12000"/>
            </a:avLst>
          </a:prstGeom>
          <a:solidFill>
            <a:srgbClr val="007F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130552"/>
            <a:ext cx="201168" cy="265176"/>
          </a:xfrm>
          <a:prstGeom prst="rect">
            <a:avLst/>
          </a:prstGeom>
          <a:noFill/>
        </p:spPr>
        <p:txBody>
          <a:bodyPr wrap="square" lIns="9144" rIns="9144" tIns="9144" bIns="9144">
            <a:spAutoFit/>
          </a:bodyPr>
          <a:lstStyle/>
          <a:p>
            <a:pPr>
              <a:spcAft>
                <a:spcPts val="500"/>
              </a:spcAft>
              <a:defRPr sz="1700" b="1">
                <a:solidFill>
                  <a:srgbClr val="FFFFFF"/>
                </a:solidFill>
                <a:latin typeface="Aptos"/>
              </a:defRPr>
            </a:pPr>
            <a:r>
              <a:t>1</a:t>
            </a:r>
          </a:p>
        </p:txBody>
      </p:sp>
      <p:sp>
        <p:nvSpPr>
          <p:cNvPr id="11" name="TextBox 10"/>
          <p:cNvSpPr txBox="1"/>
          <p:nvPr/>
        </p:nvSpPr>
        <p:spPr>
          <a:xfrm>
            <a:off x="1307592" y="2075688"/>
            <a:ext cx="3831336" cy="356616"/>
          </a:xfrm>
          <a:prstGeom prst="rect">
            <a:avLst/>
          </a:prstGeom>
          <a:noFill/>
        </p:spPr>
        <p:txBody>
          <a:bodyPr wrap="square" lIns="9144" rIns="9144" tIns="9144" bIns="9144">
            <a:spAutoFit/>
          </a:bodyPr>
          <a:lstStyle/>
          <a:p>
            <a:pPr>
              <a:spcAft>
                <a:spcPts val="500"/>
              </a:spcAft>
              <a:defRPr sz="2000" b="1">
                <a:solidFill>
                  <a:srgbClr val="183247"/>
                </a:solidFill>
                <a:latin typeface="Aptos"/>
              </a:defRPr>
            </a:pPr>
            <a:r>
              <a:t>Expand paired validation</a:t>
            </a:r>
          </a:p>
        </p:txBody>
      </p:sp>
      <p:sp>
        <p:nvSpPr>
          <p:cNvPr id="12" name="TextBox 11"/>
          <p:cNvSpPr txBox="1"/>
          <p:nvPr/>
        </p:nvSpPr>
        <p:spPr>
          <a:xfrm>
            <a:off x="5212080" y="2093976"/>
            <a:ext cx="6172200" cy="548640"/>
          </a:xfrm>
          <a:prstGeom prst="rect">
            <a:avLst/>
          </a:prstGeom>
          <a:noFill/>
        </p:spPr>
        <p:txBody>
          <a:bodyPr wrap="square" lIns="9144" rIns="9144" tIns="9144" bIns="9144">
            <a:spAutoFit/>
          </a:bodyPr>
          <a:lstStyle/>
          <a:p>
            <a:pPr>
              <a:spcAft>
                <a:spcPts val="500"/>
              </a:spcAft>
              <a:defRPr sz="1600" b="0">
                <a:solidFill>
                  <a:srgbClr val="536C7D"/>
                </a:solidFill>
                <a:latin typeface="Aptos"/>
              </a:defRPr>
            </a:pPr>
            <a:r>
              <a:t>312 emails per persona; slice failures; bootstrap by incoming email.</a:t>
            </a:r>
          </a:p>
        </p:txBody>
      </p:sp>
      <p:sp>
        <p:nvSpPr>
          <p:cNvPr id="13" name="Rounded Rectangle 12"/>
          <p:cNvSpPr/>
          <p:nvPr/>
        </p:nvSpPr>
        <p:spPr>
          <a:xfrm>
            <a:off x="502920" y="2798064"/>
            <a:ext cx="11155680" cy="713232"/>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58368" y="2926080"/>
            <a:ext cx="438912" cy="438912"/>
          </a:xfrm>
          <a:prstGeom prst="roundRect">
            <a:avLst>
              <a:gd name="adj" fmla="val 12000"/>
            </a:avLst>
          </a:prstGeom>
          <a:solidFill>
            <a:srgbClr val="007F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6384" y="2980944"/>
            <a:ext cx="201168" cy="265176"/>
          </a:xfrm>
          <a:prstGeom prst="rect">
            <a:avLst/>
          </a:prstGeom>
          <a:noFill/>
        </p:spPr>
        <p:txBody>
          <a:bodyPr wrap="square" lIns="9144" rIns="9144" tIns="9144" bIns="9144">
            <a:spAutoFit/>
          </a:bodyPr>
          <a:lstStyle/>
          <a:p>
            <a:pPr>
              <a:spcAft>
                <a:spcPts val="500"/>
              </a:spcAft>
              <a:defRPr sz="1700" b="1">
                <a:solidFill>
                  <a:srgbClr val="FFFFFF"/>
                </a:solidFill>
                <a:latin typeface="Aptos"/>
              </a:defRPr>
            </a:pPr>
            <a:r>
              <a:t>2</a:t>
            </a:r>
          </a:p>
        </p:txBody>
      </p:sp>
      <p:sp>
        <p:nvSpPr>
          <p:cNvPr id="16" name="TextBox 15"/>
          <p:cNvSpPr txBox="1"/>
          <p:nvPr/>
        </p:nvSpPr>
        <p:spPr>
          <a:xfrm>
            <a:off x="1307592" y="2926080"/>
            <a:ext cx="3831336" cy="356616"/>
          </a:xfrm>
          <a:prstGeom prst="rect">
            <a:avLst/>
          </a:prstGeom>
          <a:noFill/>
        </p:spPr>
        <p:txBody>
          <a:bodyPr wrap="square" lIns="9144" rIns="9144" tIns="9144" bIns="9144">
            <a:spAutoFit/>
          </a:bodyPr>
          <a:lstStyle/>
          <a:p>
            <a:pPr>
              <a:spcAft>
                <a:spcPts val="500"/>
              </a:spcAft>
              <a:defRPr sz="2000" b="1">
                <a:solidFill>
                  <a:srgbClr val="183247"/>
                </a:solidFill>
                <a:latin typeface="Aptos"/>
              </a:defRPr>
            </a:pPr>
            <a:r>
              <a:t>Blind the human review</a:t>
            </a:r>
          </a:p>
        </p:txBody>
      </p:sp>
      <p:sp>
        <p:nvSpPr>
          <p:cNvPr id="17" name="TextBox 16"/>
          <p:cNvSpPr txBox="1"/>
          <p:nvPr/>
        </p:nvSpPr>
        <p:spPr>
          <a:xfrm>
            <a:off x="5212080" y="2944368"/>
            <a:ext cx="6172200" cy="548640"/>
          </a:xfrm>
          <a:prstGeom prst="rect">
            <a:avLst/>
          </a:prstGeom>
          <a:noFill/>
        </p:spPr>
        <p:txBody>
          <a:bodyPr wrap="square" lIns="9144" rIns="9144" tIns="9144" bIns="9144">
            <a:spAutoFit/>
          </a:bodyPr>
          <a:lstStyle/>
          <a:p>
            <a:pPr>
              <a:spcAft>
                <a:spcPts val="500"/>
              </a:spcAft>
              <a:defRPr sz="1600" b="0">
                <a:solidFill>
                  <a:srgbClr val="536C7D"/>
                </a:solidFill>
                <a:latin typeface="Aptos"/>
              </a:defRPr>
            </a:pPr>
            <a:r>
              <a:t>2+ reviewers; voice, relevance, grounding, actionability, boundaries.</a:t>
            </a:r>
          </a:p>
        </p:txBody>
      </p:sp>
      <p:sp>
        <p:nvSpPr>
          <p:cNvPr id="18" name="Rounded Rectangle 17"/>
          <p:cNvSpPr/>
          <p:nvPr/>
        </p:nvSpPr>
        <p:spPr>
          <a:xfrm>
            <a:off x="502920" y="3648456"/>
            <a:ext cx="11155680" cy="713232"/>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58368" y="3776472"/>
            <a:ext cx="438912" cy="438912"/>
          </a:xfrm>
          <a:prstGeom prst="roundRect">
            <a:avLst>
              <a:gd name="adj" fmla="val 12000"/>
            </a:avLst>
          </a:prstGeom>
          <a:solidFill>
            <a:srgbClr val="007F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6384" y="3831336"/>
            <a:ext cx="201168" cy="265176"/>
          </a:xfrm>
          <a:prstGeom prst="rect">
            <a:avLst/>
          </a:prstGeom>
          <a:noFill/>
        </p:spPr>
        <p:txBody>
          <a:bodyPr wrap="square" lIns="9144" rIns="9144" tIns="9144" bIns="9144">
            <a:spAutoFit/>
          </a:bodyPr>
          <a:lstStyle/>
          <a:p>
            <a:pPr>
              <a:spcAft>
                <a:spcPts val="500"/>
              </a:spcAft>
              <a:defRPr sz="1700" b="1">
                <a:solidFill>
                  <a:srgbClr val="FFFFFF"/>
                </a:solidFill>
                <a:latin typeface="Aptos"/>
              </a:defRPr>
            </a:pPr>
            <a:r>
              <a:t>3</a:t>
            </a:r>
          </a:p>
        </p:txBody>
      </p:sp>
      <p:sp>
        <p:nvSpPr>
          <p:cNvPr id="21" name="TextBox 20"/>
          <p:cNvSpPr txBox="1"/>
          <p:nvPr/>
        </p:nvSpPr>
        <p:spPr>
          <a:xfrm>
            <a:off x="1307592" y="3776472"/>
            <a:ext cx="3831336" cy="356616"/>
          </a:xfrm>
          <a:prstGeom prst="rect">
            <a:avLst/>
          </a:prstGeom>
          <a:noFill/>
        </p:spPr>
        <p:txBody>
          <a:bodyPr wrap="square" lIns="9144" rIns="9144" tIns="9144" bIns="9144">
            <a:spAutoFit/>
          </a:bodyPr>
          <a:lstStyle/>
          <a:p>
            <a:pPr>
              <a:spcAft>
                <a:spcPts val="500"/>
              </a:spcAft>
              <a:defRPr sz="2000" b="1">
                <a:solidFill>
                  <a:srgbClr val="183247"/>
                </a:solidFill>
                <a:latin typeface="Aptos"/>
              </a:defRPr>
            </a:pPr>
            <a:r>
              <a:t>Run controls + stress tests</a:t>
            </a:r>
          </a:p>
        </p:txBody>
      </p:sp>
      <p:sp>
        <p:nvSpPr>
          <p:cNvPr id="22" name="TextBox 21"/>
          <p:cNvSpPr txBox="1"/>
          <p:nvPr/>
        </p:nvSpPr>
        <p:spPr>
          <a:xfrm>
            <a:off x="5212080" y="3794760"/>
            <a:ext cx="6172200" cy="548640"/>
          </a:xfrm>
          <a:prstGeom prst="rect">
            <a:avLst/>
          </a:prstGeom>
          <a:noFill/>
        </p:spPr>
        <p:txBody>
          <a:bodyPr wrap="square" lIns="9144" rIns="9144" tIns="9144" bIns="9144">
            <a:spAutoFit/>
          </a:bodyPr>
          <a:lstStyle/>
          <a:p>
            <a:pPr>
              <a:spcAft>
                <a:spcPts val="500"/>
              </a:spcAft>
              <a:defRPr sz="1600" b="0">
                <a:solidFill>
                  <a:srgbClr val="536C7D"/>
                </a:solidFill>
                <a:latin typeface="Aptos"/>
              </a:defRPr>
            </a:pPr>
            <a:r>
              <a:t>Prompt-only/shared/wrong adapters; long threads; altered facts; injection.</a:t>
            </a:r>
          </a:p>
        </p:txBody>
      </p:sp>
      <p:sp>
        <p:nvSpPr>
          <p:cNvPr id="23" name="Rounded Rectangle 22"/>
          <p:cNvSpPr/>
          <p:nvPr/>
        </p:nvSpPr>
        <p:spPr>
          <a:xfrm>
            <a:off x="502920" y="4498848"/>
            <a:ext cx="11155680" cy="713232"/>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58368" y="4626864"/>
            <a:ext cx="438912" cy="438912"/>
          </a:xfrm>
          <a:prstGeom prst="roundRect">
            <a:avLst>
              <a:gd name="adj" fmla="val 12000"/>
            </a:avLst>
          </a:prstGeom>
          <a:solidFill>
            <a:srgbClr val="007F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86384" y="4681728"/>
            <a:ext cx="201168" cy="265176"/>
          </a:xfrm>
          <a:prstGeom prst="rect">
            <a:avLst/>
          </a:prstGeom>
          <a:noFill/>
        </p:spPr>
        <p:txBody>
          <a:bodyPr wrap="square" lIns="9144" rIns="9144" tIns="9144" bIns="9144">
            <a:spAutoFit/>
          </a:bodyPr>
          <a:lstStyle/>
          <a:p>
            <a:pPr>
              <a:spcAft>
                <a:spcPts val="500"/>
              </a:spcAft>
              <a:defRPr sz="1700" b="1">
                <a:solidFill>
                  <a:srgbClr val="FFFFFF"/>
                </a:solidFill>
                <a:latin typeface="Aptos"/>
              </a:defRPr>
            </a:pPr>
            <a:r>
              <a:t>4</a:t>
            </a:r>
          </a:p>
        </p:txBody>
      </p:sp>
      <p:sp>
        <p:nvSpPr>
          <p:cNvPr id="26" name="TextBox 25"/>
          <p:cNvSpPr txBox="1"/>
          <p:nvPr/>
        </p:nvSpPr>
        <p:spPr>
          <a:xfrm>
            <a:off x="1307592" y="4626864"/>
            <a:ext cx="3831336" cy="356616"/>
          </a:xfrm>
          <a:prstGeom prst="rect">
            <a:avLst/>
          </a:prstGeom>
          <a:noFill/>
        </p:spPr>
        <p:txBody>
          <a:bodyPr wrap="square" lIns="9144" rIns="9144" tIns="9144" bIns="9144">
            <a:spAutoFit/>
          </a:bodyPr>
          <a:lstStyle/>
          <a:p>
            <a:pPr>
              <a:spcAft>
                <a:spcPts val="500"/>
              </a:spcAft>
              <a:defRPr sz="2000" b="1">
                <a:solidFill>
                  <a:srgbClr val="183247"/>
                </a:solidFill>
                <a:latin typeface="Aptos"/>
              </a:defRPr>
            </a:pPr>
            <a:r>
              <a:t>Benchmark, freeze, then test</a:t>
            </a:r>
          </a:p>
        </p:txBody>
      </p:sp>
      <p:sp>
        <p:nvSpPr>
          <p:cNvPr id="27" name="TextBox 26"/>
          <p:cNvSpPr txBox="1"/>
          <p:nvPr/>
        </p:nvSpPr>
        <p:spPr>
          <a:xfrm>
            <a:off x="5212080" y="4645152"/>
            <a:ext cx="6172200" cy="548640"/>
          </a:xfrm>
          <a:prstGeom prst="rect">
            <a:avLst/>
          </a:prstGeom>
          <a:noFill/>
        </p:spPr>
        <p:txBody>
          <a:bodyPr wrap="square" lIns="9144" rIns="9144" tIns="9144" bIns="9144">
            <a:spAutoFit/>
          </a:bodyPr>
          <a:lstStyle/>
          <a:p>
            <a:pPr>
              <a:spcAft>
                <a:spcPts val="500"/>
              </a:spcAft>
              <a:defRPr sz="1600" b="0">
                <a:solidFill>
                  <a:srgbClr val="536C7D"/>
                </a:solidFill>
                <a:latin typeface="Aptos"/>
              </a:defRPr>
            </a:pPr>
            <a:r>
              <a:t>Latency, VRAM, concurrency; lock settings; final 318-email holdout once.</a:t>
            </a:r>
          </a:p>
        </p:txBody>
      </p:sp>
      <p:sp>
        <p:nvSpPr>
          <p:cNvPr id="28" name="Rounded Rectangle 27"/>
          <p:cNvSpPr/>
          <p:nvPr/>
        </p:nvSpPr>
        <p:spPr>
          <a:xfrm>
            <a:off x="502920" y="5641848"/>
            <a:ext cx="11155680" cy="539496"/>
          </a:xfrm>
          <a:prstGeom prst="roundRect">
            <a:avLst>
              <a:gd name="adj" fmla="val 12000"/>
            </a:avLst>
          </a:prstGeom>
          <a:solidFill>
            <a:srgbClr val="1026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13232" y="5769864"/>
            <a:ext cx="10735056" cy="283464"/>
          </a:xfrm>
          <a:prstGeom prst="rect">
            <a:avLst/>
          </a:prstGeom>
          <a:noFill/>
        </p:spPr>
        <p:txBody>
          <a:bodyPr wrap="square" lIns="9144" rIns="9144" tIns="9144" bIns="9144">
            <a:spAutoFit/>
          </a:bodyPr>
          <a:lstStyle/>
          <a:p>
            <a:pPr>
              <a:spcAft>
                <a:spcPts val="500"/>
              </a:spcAft>
              <a:defRPr sz="1600" b="1">
                <a:solidFill>
                  <a:srgbClr val="FFFFFF"/>
                </a:solidFill>
                <a:latin typeface="Aptos"/>
              </a:defRPr>
            </a:pPr>
            <a:r>
              <a:t>DECISION RULE  Pre-register quality + critical-error limits; keep human approval before sending.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Multi-LoRA for Email | Final Experiment Readout</dc:title>
  <dc:subject>Local email classification and persona reply experiments</dc:subject>
  <dc:creator>Multi-LoRA Workshop</dc:creator>
  <cp:keywords>LoRA, Qwen, Nemotron, email, evaluation, synthetic personas</cp:keywords>
  <dc:description>Evidence cutoff 2026-10-20. Validation results; persona generation diagnostics preliminary.</dc:description>
  <cp:lastModifiedBy>Steve Canny</cp:lastModifiedBy>
  <cp:revision>1</cp:revision>
  <dcterms:created xsi:type="dcterms:W3CDTF">2013-01-27T09:14:16Z</dcterms:created>
  <dcterms:modified xsi:type="dcterms:W3CDTF">2013-01-27T09:15:58Z</dcterms:modified>
  <cp:category/>
</cp:coreProperties>
</file>